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76" r:id="rId3"/>
    <p:sldId id="282" r:id="rId4"/>
    <p:sldId id="270" r:id="rId5"/>
    <p:sldId id="257" r:id="rId6"/>
    <p:sldId id="272" r:id="rId7"/>
    <p:sldId id="273" r:id="rId8"/>
    <p:sldId id="275" r:id="rId9"/>
    <p:sldId id="277" r:id="rId10"/>
    <p:sldId id="283" r:id="rId11"/>
    <p:sldId id="292" r:id="rId12"/>
    <p:sldId id="284" r:id="rId13"/>
    <p:sldId id="268" r:id="rId14"/>
    <p:sldId id="269" r:id="rId15"/>
    <p:sldId id="260" r:id="rId16"/>
    <p:sldId id="261" r:id="rId17"/>
    <p:sldId id="262" r:id="rId18"/>
    <p:sldId id="278" r:id="rId19"/>
    <p:sldId id="286" r:id="rId20"/>
    <p:sldId id="287" r:id="rId21"/>
    <p:sldId id="288" r:id="rId22"/>
    <p:sldId id="271" r:id="rId23"/>
    <p:sldId id="263" r:id="rId24"/>
    <p:sldId id="265" r:id="rId25"/>
  </p:sldIdLst>
  <p:sldSz cx="12192000" cy="6858000"/>
  <p:notesSz cx="6858000" cy="93138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A15300-7EC2-4B9B-8B6E-141C92F620F0}" v="3" dt="2024-10-03T04:39:11.0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15" autoAdjust="0"/>
    <p:restoredTop sz="67891" autoAdjust="0"/>
  </p:normalViewPr>
  <p:slideViewPr>
    <p:cSldViewPr snapToGrid="0">
      <p:cViewPr varScale="1">
        <p:scale>
          <a:sx n="45" d="100"/>
          <a:sy n="45" d="100"/>
        </p:scale>
        <p:origin x="1272"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gie01whoop aggie01whoop" userId="094e9243e61ca796" providerId="LiveId" clId="{D1A15300-7EC2-4B9B-8B6E-141C92F620F0}"/>
    <pc:docChg chg="undo custSel delSld modSld modNotesMaster">
      <pc:chgData name="aggie01whoop aggie01whoop" userId="094e9243e61ca796" providerId="LiveId" clId="{D1A15300-7EC2-4B9B-8B6E-141C92F620F0}" dt="2024-10-03T04:47:20.842" v="1294" actId="2696"/>
      <pc:docMkLst>
        <pc:docMk/>
      </pc:docMkLst>
      <pc:sldChg chg="modNotesTx">
        <pc:chgData name="aggie01whoop aggie01whoop" userId="094e9243e61ca796" providerId="LiveId" clId="{D1A15300-7EC2-4B9B-8B6E-141C92F620F0}" dt="2024-10-03T04:36:13.931" v="439" actId="113"/>
        <pc:sldMkLst>
          <pc:docMk/>
          <pc:sldMk cId="1045809126" sldId="278"/>
        </pc:sldMkLst>
      </pc:sldChg>
      <pc:sldChg chg="modNotesTx">
        <pc:chgData name="aggie01whoop aggie01whoop" userId="094e9243e61ca796" providerId="LiveId" clId="{D1A15300-7EC2-4B9B-8B6E-141C92F620F0}" dt="2024-10-03T04:19:25.649" v="101" actId="115"/>
        <pc:sldMkLst>
          <pc:docMk/>
          <pc:sldMk cId="395603463" sldId="282"/>
        </pc:sldMkLst>
      </pc:sldChg>
      <pc:sldChg chg="modNotesTx">
        <pc:chgData name="aggie01whoop aggie01whoop" userId="094e9243e61ca796" providerId="LiveId" clId="{D1A15300-7EC2-4B9B-8B6E-141C92F620F0}" dt="2024-10-03T04:28:12.642" v="309" actId="20577"/>
        <pc:sldMkLst>
          <pc:docMk/>
          <pc:sldMk cId="3457634273" sldId="283"/>
        </pc:sldMkLst>
      </pc:sldChg>
      <pc:sldChg chg="modNotesTx">
        <pc:chgData name="aggie01whoop aggie01whoop" userId="094e9243e61ca796" providerId="LiveId" clId="{D1A15300-7EC2-4B9B-8B6E-141C92F620F0}" dt="2024-10-03T04:35:13.934" v="434" actId="115"/>
        <pc:sldMkLst>
          <pc:docMk/>
          <pc:sldMk cId="3269381272" sldId="284"/>
        </pc:sldMkLst>
      </pc:sldChg>
      <pc:sldChg chg="modNotesTx">
        <pc:chgData name="aggie01whoop aggie01whoop" userId="094e9243e61ca796" providerId="LiveId" clId="{D1A15300-7EC2-4B9B-8B6E-141C92F620F0}" dt="2024-10-03T04:38:08.321" v="475" actId="20577"/>
        <pc:sldMkLst>
          <pc:docMk/>
          <pc:sldMk cId="3487840178" sldId="286"/>
        </pc:sldMkLst>
      </pc:sldChg>
      <pc:sldChg chg="modNotesTx">
        <pc:chgData name="aggie01whoop aggie01whoop" userId="094e9243e61ca796" providerId="LiveId" clId="{D1A15300-7EC2-4B9B-8B6E-141C92F620F0}" dt="2024-10-03T04:44:55.698" v="1293" actId="20577"/>
        <pc:sldMkLst>
          <pc:docMk/>
          <pc:sldMk cId="923301174" sldId="288"/>
        </pc:sldMkLst>
      </pc:sldChg>
      <pc:sldChg chg="del">
        <pc:chgData name="aggie01whoop aggie01whoop" userId="094e9243e61ca796" providerId="LiveId" clId="{D1A15300-7EC2-4B9B-8B6E-141C92F620F0}" dt="2024-10-03T04:47:20.842" v="1294" actId="2696"/>
        <pc:sldMkLst>
          <pc:docMk/>
          <pc:sldMk cId="338279613" sldId="289"/>
        </pc:sldMkLst>
      </pc:sldChg>
      <pc:sldChg chg="modNotesTx">
        <pc:chgData name="aggie01whoop aggie01whoop" userId="094e9243e61ca796" providerId="LiveId" clId="{D1A15300-7EC2-4B9B-8B6E-141C92F620F0}" dt="2024-10-03T04:30:48.159" v="332" actId="113"/>
        <pc:sldMkLst>
          <pc:docMk/>
          <pc:sldMk cId="3413284732" sldId="2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73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7311"/>
          </a:xfrm>
          <a:prstGeom prst="rect">
            <a:avLst/>
          </a:prstGeom>
        </p:spPr>
        <p:txBody>
          <a:bodyPr vert="horz" lIns="91440" tIns="45720" rIns="91440" bIns="45720" rtlCol="0"/>
          <a:lstStyle>
            <a:lvl1pPr algn="r">
              <a:defRPr sz="1200"/>
            </a:lvl1pPr>
          </a:lstStyle>
          <a:p>
            <a:fld id="{A7B51135-119C-4947-9FDB-BDE9C5A55D33}" type="datetimeFigureOut">
              <a:rPr lang="en-US" smtClean="0"/>
              <a:t>10/3/2024</a:t>
            </a:fld>
            <a:endParaRPr lang="en-US"/>
          </a:p>
        </p:txBody>
      </p:sp>
      <p:sp>
        <p:nvSpPr>
          <p:cNvPr id="4" name="Slide Image Placeholder 3"/>
          <p:cNvSpPr>
            <a:spLocks noGrp="1" noRot="1" noChangeAspect="1"/>
          </p:cNvSpPr>
          <p:nvPr>
            <p:ph type="sldImg" idx="2"/>
          </p:nvPr>
        </p:nvSpPr>
        <p:spPr>
          <a:xfrm>
            <a:off x="635000" y="1163638"/>
            <a:ext cx="5588000" cy="31432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82296"/>
            <a:ext cx="5486400" cy="366733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6554"/>
            <a:ext cx="2971800" cy="46731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46554"/>
            <a:ext cx="2971800" cy="467310"/>
          </a:xfrm>
          <a:prstGeom prst="rect">
            <a:avLst/>
          </a:prstGeom>
        </p:spPr>
        <p:txBody>
          <a:bodyPr vert="horz" lIns="91440" tIns="45720" rIns="91440" bIns="45720" rtlCol="0" anchor="b"/>
          <a:lstStyle>
            <a:lvl1pPr algn="r">
              <a:defRPr sz="1200"/>
            </a:lvl1pPr>
          </a:lstStyle>
          <a:p>
            <a:fld id="{57513A7F-ED43-4CC5-9607-D648E698D27A}" type="slidenum">
              <a:rPr lang="en-US" smtClean="0"/>
              <a:t>‹#›</a:t>
            </a:fld>
            <a:endParaRPr lang="en-US"/>
          </a:p>
        </p:txBody>
      </p:sp>
    </p:spTree>
    <p:extLst>
      <p:ext uri="{BB962C8B-B14F-4D97-AF65-F5344CB8AC3E}">
        <p14:creationId xmlns:p14="http://schemas.microsoft.com/office/powerpoint/2010/main" val="3006927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7513A7F-ED43-4CC5-9607-D648E698D27A}" type="slidenum">
              <a:rPr lang="en-US" smtClean="0"/>
              <a:t>1</a:t>
            </a:fld>
            <a:endParaRPr lang="en-US"/>
          </a:p>
        </p:txBody>
      </p:sp>
    </p:spTree>
    <p:extLst>
      <p:ext uri="{BB962C8B-B14F-4D97-AF65-F5344CB8AC3E}">
        <p14:creationId xmlns:p14="http://schemas.microsoft.com/office/powerpoint/2010/main" val="3931398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Hao and I were fortunate to be able to take a course on Intervention Designs in Real World Settings through UCSF in the Spring.  </a:t>
            </a:r>
          </a:p>
          <a:p>
            <a:r>
              <a:rPr lang="en-US" dirty="0"/>
              <a:t>We would like to give you a </a:t>
            </a:r>
            <a:r>
              <a:rPr lang="en-US" b="1" dirty="0"/>
              <a:t>very broad overview </a:t>
            </a:r>
            <a:r>
              <a:rPr lang="en-US" dirty="0"/>
              <a:t>of what we learned and then </a:t>
            </a:r>
            <a:r>
              <a:rPr lang="en-US" b="1" dirty="0"/>
              <a:t>gage if there are particular areas/designs you would like to dig deeper into in subsequent sessions</a:t>
            </a:r>
            <a:r>
              <a:rPr lang="en-US" dirty="0"/>
              <a:t>.</a:t>
            </a:r>
          </a:p>
        </p:txBody>
      </p:sp>
      <p:sp>
        <p:nvSpPr>
          <p:cNvPr id="4" name="Slide Number Placeholder 3"/>
          <p:cNvSpPr>
            <a:spLocks noGrp="1"/>
          </p:cNvSpPr>
          <p:nvPr>
            <p:ph type="sldNum" sz="quarter" idx="5"/>
          </p:nvPr>
        </p:nvSpPr>
        <p:spPr/>
        <p:txBody>
          <a:bodyPr/>
          <a:lstStyle/>
          <a:p>
            <a:fld id="{57513A7F-ED43-4CC5-9607-D648E698D27A}" type="slidenum">
              <a:rPr lang="en-US" smtClean="0"/>
              <a:t>2</a:t>
            </a:fld>
            <a:endParaRPr lang="en-US"/>
          </a:p>
        </p:txBody>
      </p:sp>
    </p:spTree>
    <p:extLst>
      <p:ext uri="{BB962C8B-B14F-4D97-AF65-F5344CB8AC3E}">
        <p14:creationId xmlns:p14="http://schemas.microsoft.com/office/powerpoint/2010/main" val="4226899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3000" b="1" dirty="0"/>
              <a:t>What is the impetus of this course?</a:t>
            </a:r>
          </a:p>
          <a:p>
            <a:pPr marL="228600" indent="-228600">
              <a:buAutoNum type="arabicPeriod"/>
            </a:pPr>
            <a:endParaRPr lang="en-US" sz="3000" b="1" dirty="0"/>
          </a:p>
          <a:p>
            <a:pPr marL="228600" indent="-228600">
              <a:buAutoNum type="arabicPeriod"/>
            </a:pPr>
            <a:r>
              <a:rPr lang="en-US" sz="3000" b="1" dirty="0"/>
              <a:t>There is an evidence-practice gap in how we produce actionable evidence: </a:t>
            </a:r>
          </a:p>
          <a:p>
            <a:pPr algn="l"/>
            <a:endParaRPr lang="en-US" sz="3000" b="0" i="0" u="none" strike="noStrike" baseline="0" dirty="0">
              <a:solidFill>
                <a:srgbClr val="052049"/>
              </a:solidFill>
              <a:latin typeface="ArialMT"/>
            </a:endParaRPr>
          </a:p>
          <a:p>
            <a:pPr marL="457200" indent="-457200" algn="l">
              <a:buFont typeface="Wingdings" panose="05000000000000000000" pitchFamily="2" charset="2"/>
              <a:buChar char="Ø"/>
            </a:pPr>
            <a:r>
              <a:rPr lang="en-US" sz="3000" b="0" i="0" u="none" strike="noStrike" baseline="0" dirty="0">
                <a:solidFill>
                  <a:srgbClr val="052049"/>
                </a:solidFill>
                <a:latin typeface="ArialMT"/>
              </a:rPr>
              <a:t>Healthcare is complex and expensive and there is a big demand </a:t>
            </a:r>
            <a:r>
              <a:rPr lang="en-US" sz="3000" b="0" i="0" u="sng" strike="noStrike" baseline="0" dirty="0">
                <a:solidFill>
                  <a:srgbClr val="052049"/>
                </a:solidFill>
                <a:latin typeface="ArialMT"/>
              </a:rPr>
              <a:t>for evidence to inform decisions </a:t>
            </a:r>
            <a:r>
              <a:rPr lang="en-US" sz="3000" b="0" i="0" u="none" strike="noStrike" baseline="0" dirty="0">
                <a:solidFill>
                  <a:srgbClr val="052049"/>
                </a:solidFill>
                <a:latin typeface="ArialMT"/>
              </a:rPr>
              <a:t>that lead to improved, efficient, and affordable care.</a:t>
            </a:r>
          </a:p>
          <a:p>
            <a:pPr marL="457200" indent="-457200" algn="l">
              <a:buFont typeface="Wingdings" panose="05000000000000000000" pitchFamily="2" charset="2"/>
              <a:buChar char="Ø"/>
            </a:pPr>
            <a:endParaRPr lang="en-US" sz="3000" b="0" i="0" u="none" strike="noStrike" baseline="0" dirty="0">
              <a:solidFill>
                <a:srgbClr val="052049"/>
              </a:solidFill>
              <a:latin typeface="ArialMT"/>
            </a:endParaRPr>
          </a:p>
          <a:p>
            <a:pPr marL="457200" indent="-457200" algn="l">
              <a:buFont typeface="Wingdings" panose="05000000000000000000" pitchFamily="2" charset="2"/>
              <a:buChar char="Ø"/>
            </a:pPr>
            <a:r>
              <a:rPr lang="en-US" sz="3000" b="0" i="0" u="none" strike="noStrike" baseline="0" dirty="0">
                <a:solidFill>
                  <a:srgbClr val="052049"/>
                </a:solidFill>
                <a:latin typeface="ArialMT"/>
              </a:rPr>
              <a:t>Care providers, researchers, administrators, payers, regulators, and the public agree that the provision of clinical care and related public health and social</a:t>
            </a:r>
          </a:p>
          <a:p>
            <a:pPr algn="l"/>
            <a:r>
              <a:rPr lang="en-US" sz="3000" b="0" i="0" u="none" strike="noStrike" baseline="0" dirty="0">
                <a:solidFill>
                  <a:srgbClr val="052049"/>
                </a:solidFill>
                <a:latin typeface="ArialMT"/>
              </a:rPr>
              <a:t>services, should be informed by </a:t>
            </a:r>
            <a:r>
              <a:rPr lang="en-US" sz="3000" b="0" i="0" u="sng" strike="noStrike" baseline="0" dirty="0">
                <a:solidFill>
                  <a:srgbClr val="052049"/>
                </a:solidFill>
                <a:latin typeface="ArialMT"/>
              </a:rPr>
              <a:t>high-quality</a:t>
            </a:r>
            <a:r>
              <a:rPr lang="en-US" sz="3000" b="0" i="0" u="none" strike="noStrike" baseline="0" dirty="0">
                <a:solidFill>
                  <a:srgbClr val="052049"/>
                </a:solidFill>
                <a:latin typeface="ArialMT"/>
              </a:rPr>
              <a:t> scientific evidence regarding the risks and benefits of treatments, interventions, and programs…..</a:t>
            </a:r>
          </a:p>
          <a:p>
            <a:pPr algn="l"/>
            <a:endParaRPr lang="en-US" sz="3000" b="0" i="0" u="none" strike="noStrike" baseline="0" dirty="0">
              <a:solidFill>
                <a:srgbClr val="052049"/>
              </a:solidFill>
              <a:latin typeface="ArialMT"/>
            </a:endParaRPr>
          </a:p>
          <a:p>
            <a:pPr marL="285750" indent="-285750" algn="l">
              <a:buFont typeface="Wingdings" panose="05000000000000000000" pitchFamily="2" charset="2"/>
              <a:buChar char="Ø"/>
            </a:pPr>
            <a:r>
              <a:rPr lang="en-US" sz="3000" b="0" i="0" u="none" strike="noStrike" baseline="0" dirty="0">
                <a:solidFill>
                  <a:srgbClr val="052049"/>
                </a:solidFill>
                <a:latin typeface="ArialMT"/>
              </a:rPr>
              <a:t>But </a:t>
            </a:r>
            <a:r>
              <a:rPr lang="en-US" sz="3000" b="0" i="0" u="sng" strike="noStrike" baseline="0" dirty="0">
                <a:solidFill>
                  <a:srgbClr val="052049"/>
                </a:solidFill>
                <a:latin typeface="ArialMT"/>
              </a:rPr>
              <a:t>we do not always produce the evidence </a:t>
            </a:r>
            <a:r>
              <a:rPr lang="en-US" sz="3000" b="0" i="0" u="none" strike="noStrike" baseline="0" dirty="0">
                <a:solidFill>
                  <a:srgbClr val="052049"/>
                </a:solidFill>
                <a:latin typeface="ArialMT"/>
              </a:rPr>
              <a:t>needed for </a:t>
            </a:r>
            <a:r>
              <a:rPr lang="en-US" sz="3000" b="0" i="0" u="sng" strike="noStrike" baseline="0" dirty="0">
                <a:solidFill>
                  <a:srgbClr val="052049"/>
                </a:solidFill>
                <a:latin typeface="ArialMT"/>
              </a:rPr>
              <a:t>real world </a:t>
            </a:r>
            <a:r>
              <a:rPr lang="en-US" sz="3000" b="0" i="0" u="none" strike="noStrike" baseline="0" dirty="0">
                <a:solidFill>
                  <a:srgbClr val="052049"/>
                </a:solidFill>
                <a:latin typeface="ArialMT"/>
              </a:rPr>
              <a:t>decision making</a:t>
            </a:r>
            <a:r>
              <a:rPr lang="en-US" sz="2200" b="0" i="0" u="none" strike="noStrike" baseline="0" dirty="0">
                <a:solidFill>
                  <a:srgbClr val="052049"/>
                </a:solidFill>
                <a:latin typeface="ArialMT"/>
              </a:rPr>
              <a:t>.</a:t>
            </a:r>
          </a:p>
          <a:p>
            <a:pPr algn="l"/>
            <a:endParaRPr lang="en-US" sz="2200" b="0" i="0" u="none" strike="noStrike" baseline="0" dirty="0">
              <a:solidFill>
                <a:srgbClr val="052049"/>
              </a:solidFill>
              <a:latin typeface="ArialMT"/>
            </a:endParaRPr>
          </a:p>
          <a:p>
            <a:pPr algn="l"/>
            <a:r>
              <a:rPr lang="en-US" sz="2200" b="1" i="0" u="none" strike="noStrike" baseline="0" dirty="0">
                <a:solidFill>
                  <a:srgbClr val="052049"/>
                </a:solidFill>
                <a:latin typeface="ArialMT"/>
              </a:rPr>
              <a:t>Most of our highest quality evidence is generated in a ‘vacuum’.</a:t>
            </a:r>
          </a:p>
          <a:p>
            <a:pPr algn="l"/>
            <a:endParaRPr lang="en-US" sz="2200" b="0" i="0" u="none" strike="noStrike" baseline="0" dirty="0">
              <a:solidFill>
                <a:srgbClr val="052049"/>
              </a:solidFill>
              <a:latin typeface="Wingdings-Regular"/>
            </a:endParaRPr>
          </a:p>
          <a:p>
            <a:pPr algn="l"/>
            <a:r>
              <a:rPr lang="en-US" sz="2200" b="0" i="0" u="none" strike="noStrike" baseline="0" dirty="0">
                <a:solidFill>
                  <a:srgbClr val="052049"/>
                </a:solidFill>
                <a:latin typeface="Wingdings-Regular"/>
              </a:rPr>
              <a:t>&gt;  </a:t>
            </a:r>
            <a:r>
              <a:rPr lang="en-US" sz="2200" b="0" i="0" u="none" strike="noStrike" baseline="0" dirty="0">
                <a:solidFill>
                  <a:srgbClr val="3581F2"/>
                </a:solidFill>
                <a:latin typeface="ArialMT"/>
              </a:rPr>
              <a:t>Although randomized controlled trials (RCTs) provide efficacy data on </a:t>
            </a:r>
            <a:r>
              <a:rPr lang="en-US" sz="2200" b="0" i="0" u="sng" strike="noStrike" baseline="0" dirty="0">
                <a:solidFill>
                  <a:srgbClr val="3581F2"/>
                </a:solidFill>
                <a:latin typeface="ArialMT"/>
              </a:rPr>
              <a:t>whether an intervention works in ideal circumstances</a:t>
            </a:r>
            <a:r>
              <a:rPr lang="en-US" sz="2200" b="0" i="0" u="none" strike="noStrike" baseline="0" dirty="0">
                <a:solidFill>
                  <a:srgbClr val="3581F2"/>
                </a:solidFill>
                <a:latin typeface="ArialMT"/>
              </a:rPr>
              <a:t>, the reality is that they often do not inform clinical decisions.</a:t>
            </a:r>
          </a:p>
          <a:p>
            <a:pPr algn="l"/>
            <a:endParaRPr lang="en-US" sz="2200" b="0" i="0" u="none" strike="noStrike" baseline="0" dirty="0">
              <a:solidFill>
                <a:srgbClr val="3581F2"/>
              </a:solidFill>
              <a:latin typeface="ArialMT"/>
            </a:endParaRPr>
          </a:p>
          <a:p>
            <a:pPr algn="l"/>
            <a:r>
              <a:rPr lang="en-US" sz="2200" b="1" i="0" u="none" strike="noStrike" baseline="0" dirty="0">
                <a:solidFill>
                  <a:srgbClr val="3581F2"/>
                </a:solidFill>
                <a:latin typeface="ArialMT"/>
              </a:rPr>
              <a:t>2. We often use the same tool for all questions, when there are many tools for different questions.</a:t>
            </a:r>
          </a:p>
          <a:p>
            <a:pPr algn="l"/>
            <a:endParaRPr lang="en-US" sz="2200" b="0" i="0" u="none" strike="noStrike" baseline="0" dirty="0">
              <a:solidFill>
                <a:srgbClr val="3581F2"/>
              </a:solidFill>
              <a:latin typeface="ArialMT"/>
            </a:endParaRPr>
          </a:p>
          <a:p>
            <a:pPr algn="l"/>
            <a:r>
              <a:rPr lang="en-US" sz="2200" b="0" i="0" u="none" strike="noStrike" baseline="0" dirty="0">
                <a:solidFill>
                  <a:srgbClr val="052049"/>
                </a:solidFill>
                <a:latin typeface="ArialMT"/>
              </a:rPr>
              <a:t>&gt; For much of modern medical history, there has been the assumption that clinical research should be kept apart from routine patient care to allow that</a:t>
            </a:r>
          </a:p>
          <a:p>
            <a:pPr algn="l"/>
            <a:r>
              <a:rPr lang="en-US" sz="2200" b="0" i="0" u="none" strike="noStrike" baseline="0" dirty="0">
                <a:solidFill>
                  <a:srgbClr val="052049"/>
                </a:solidFill>
                <a:latin typeface="ArialMT"/>
              </a:rPr>
              <a:t>research to answer our Qs.</a:t>
            </a:r>
          </a:p>
          <a:p>
            <a:pPr algn="l"/>
            <a:endParaRPr lang="en-US" sz="2200" b="0" i="0" u="none" strike="noStrike" baseline="0" dirty="0">
              <a:solidFill>
                <a:srgbClr val="052049"/>
              </a:solidFill>
              <a:latin typeface="ArialMT"/>
            </a:endParaRPr>
          </a:p>
          <a:p>
            <a:pPr algn="l"/>
            <a:r>
              <a:rPr lang="en-US" sz="2200" b="0" i="0" u="none" strike="noStrike" baseline="0" dirty="0">
                <a:solidFill>
                  <a:srgbClr val="052049"/>
                </a:solidFill>
                <a:latin typeface="Wingdings-Regular"/>
              </a:rPr>
              <a:t>&gt; </a:t>
            </a:r>
            <a:r>
              <a:rPr lang="en-US" sz="2200" b="0" i="0" u="none" strike="noStrike" baseline="0" dirty="0">
                <a:solidFill>
                  <a:srgbClr val="052049"/>
                </a:solidFill>
                <a:latin typeface="ArialMT"/>
              </a:rPr>
              <a:t>As a result, we now have an investigative system in </a:t>
            </a:r>
            <a:r>
              <a:rPr lang="en-US" sz="2200" b="0" i="0" u="sng" strike="noStrike" baseline="0" dirty="0">
                <a:solidFill>
                  <a:srgbClr val="052049"/>
                </a:solidFill>
                <a:latin typeface="ArialMT"/>
              </a:rPr>
              <a:t>which research data have been collected using mostly stand-alone data collection systems, designed to</a:t>
            </a:r>
          </a:p>
          <a:p>
            <a:pPr algn="l"/>
            <a:r>
              <a:rPr lang="en-US" sz="2200" b="0" i="0" u="sng" strike="noStrike" baseline="0" dirty="0">
                <a:solidFill>
                  <a:srgbClr val="052049"/>
                </a:solidFill>
                <a:latin typeface="ArialMT"/>
              </a:rPr>
              <a:t>ensure that the information gathered during research activities is valid and complete.</a:t>
            </a:r>
          </a:p>
          <a:p>
            <a:pPr algn="l"/>
            <a:endParaRPr lang="en-US" sz="2200" b="0" i="0" u="none" strike="noStrike" baseline="0" dirty="0">
              <a:solidFill>
                <a:srgbClr val="052049"/>
              </a:solidFill>
              <a:latin typeface="ArialMT"/>
            </a:endParaRPr>
          </a:p>
          <a:p>
            <a:pPr algn="l"/>
            <a:r>
              <a:rPr lang="en-US" sz="2200" b="0" i="0" u="none" strike="noStrike" baseline="0" dirty="0">
                <a:solidFill>
                  <a:srgbClr val="052049"/>
                </a:solidFill>
                <a:latin typeface="Wingdings-Regular"/>
              </a:rPr>
              <a:t>&gt; </a:t>
            </a:r>
            <a:r>
              <a:rPr lang="en-US" sz="2200" b="0" i="0" u="none" strike="noStrike" baseline="0" dirty="0">
                <a:solidFill>
                  <a:srgbClr val="052049"/>
                </a:solidFill>
                <a:latin typeface="ArialMT"/>
              </a:rPr>
              <a:t>However, it is understood that having </a:t>
            </a:r>
            <a:r>
              <a:rPr lang="en-US" sz="2200" b="0" i="0" u="sng" strike="noStrike" baseline="0" dirty="0">
                <a:solidFill>
                  <a:srgbClr val="052049"/>
                </a:solidFill>
                <a:latin typeface="ArialMT"/>
              </a:rPr>
              <a:t>separate systems for research and care </a:t>
            </a:r>
            <a:r>
              <a:rPr lang="en-US" sz="2200" b="0" i="0" u="none" strike="noStrike" baseline="0" dirty="0">
                <a:solidFill>
                  <a:srgbClr val="052049"/>
                </a:solidFill>
                <a:latin typeface="ArialMT"/>
              </a:rPr>
              <a:t>comes at a significant cost, in terms of time to conduct research, costs of</a:t>
            </a:r>
          </a:p>
          <a:p>
            <a:pPr algn="l"/>
            <a:r>
              <a:rPr lang="en-US" sz="2200" b="0" i="0" u="none" strike="noStrike" baseline="0" dirty="0">
                <a:solidFill>
                  <a:srgbClr val="052049"/>
                </a:solidFill>
                <a:latin typeface="ArialMT"/>
              </a:rPr>
              <a:t>research and in terms of relevance to “real-world” situations.</a:t>
            </a:r>
          </a:p>
          <a:p>
            <a:pPr algn="l"/>
            <a:endParaRPr lang="en-US" sz="2200" b="0" i="0" u="none" strike="noStrike" baseline="0" dirty="0">
              <a:solidFill>
                <a:srgbClr val="052049"/>
              </a:solidFill>
              <a:latin typeface="Garamond" panose="02020404030301010803" pitchFamily="18" charset="0"/>
            </a:endParaRPr>
          </a:p>
          <a:p>
            <a:pPr algn="l"/>
            <a:r>
              <a:rPr lang="en-US" sz="2200" b="0" i="0" u="none" strike="noStrike" baseline="0" dirty="0">
                <a:solidFill>
                  <a:srgbClr val="052049"/>
                </a:solidFill>
                <a:latin typeface="ArialMT"/>
              </a:rPr>
              <a:t>&gt; Also, as we have more opportunity for embedded data collection systems to replace or augment stand-alone data collection, our choices of designs to</a:t>
            </a:r>
          </a:p>
          <a:p>
            <a:pPr algn="l"/>
            <a:r>
              <a:rPr lang="en-US" sz="2200" b="0" i="0" u="none" strike="noStrike" baseline="0" dirty="0">
                <a:solidFill>
                  <a:srgbClr val="052049"/>
                </a:solidFill>
                <a:latin typeface="ArialMT"/>
              </a:rPr>
              <a:t>study interventions has expanded, and we </a:t>
            </a:r>
            <a:r>
              <a:rPr lang="en-US" sz="2200" b="0" i="0" u="sng" strike="noStrike" baseline="0" dirty="0">
                <a:solidFill>
                  <a:srgbClr val="052049"/>
                </a:solidFill>
                <a:latin typeface="ArialMT"/>
              </a:rPr>
              <a:t>now have many kinds of intervention studies</a:t>
            </a:r>
          </a:p>
          <a:p>
            <a:pPr algn="l"/>
            <a:endParaRPr lang="en-US" sz="2200" b="0" i="0" u="none" strike="noStrike" baseline="0" dirty="0">
              <a:solidFill>
                <a:srgbClr val="052049"/>
              </a:solidFill>
              <a:latin typeface="ArialMT"/>
            </a:endParaRPr>
          </a:p>
          <a:p>
            <a:pPr algn="l"/>
            <a:r>
              <a:rPr lang="en-US" sz="2200" b="0" i="0" u="none" strike="noStrike" baseline="0" dirty="0">
                <a:solidFill>
                  <a:srgbClr val="052049"/>
                </a:solidFill>
                <a:latin typeface="Wingdings-Regular"/>
              </a:rPr>
              <a:t>&gt; </a:t>
            </a:r>
            <a:r>
              <a:rPr lang="en-US" sz="2200" b="1" i="1" u="none" strike="noStrike" baseline="0" dirty="0">
                <a:solidFill>
                  <a:srgbClr val="052049"/>
                </a:solidFill>
                <a:latin typeface="Wingdings-Regular"/>
              </a:rPr>
              <a:t>This course presented </a:t>
            </a:r>
            <a:r>
              <a:rPr lang="en-US" sz="2200" b="1" i="1" u="none" strike="noStrike" baseline="0" dirty="0">
                <a:solidFill>
                  <a:srgbClr val="3581F2"/>
                </a:solidFill>
                <a:latin typeface="ArialMT"/>
              </a:rPr>
              <a:t>different designs that address a range of intervention questions so that the ‘best’ tool for the question can be used.</a:t>
            </a:r>
          </a:p>
          <a:p>
            <a:pPr algn="l"/>
            <a:endParaRPr lang="en-US" sz="2200" b="0" i="0" u="none" strike="noStrike" baseline="0" dirty="0">
              <a:solidFill>
                <a:srgbClr val="3581F2"/>
              </a:solidFill>
              <a:latin typeface="ArialMT"/>
            </a:endParaRPr>
          </a:p>
          <a:p>
            <a:pPr algn="l"/>
            <a:r>
              <a:rPr lang="en-US" sz="2200" b="1" i="0" u="none" strike="noStrike" baseline="0" dirty="0">
                <a:solidFill>
                  <a:srgbClr val="052049"/>
                </a:solidFill>
                <a:latin typeface="ArialMT"/>
              </a:rPr>
              <a:t>Important questions should not be ignored if they are unable to fit into an RCT.  Rather, the strongest possible design that can feasibly</a:t>
            </a:r>
          </a:p>
          <a:p>
            <a:pPr algn="l"/>
            <a:r>
              <a:rPr lang="en-US" sz="2200" b="1" i="0" u="none" strike="noStrike" baseline="0" dirty="0">
                <a:solidFill>
                  <a:srgbClr val="052049"/>
                </a:solidFill>
                <a:latin typeface="ArialMT"/>
              </a:rPr>
              <a:t>be implemented should be chosen.</a:t>
            </a:r>
          </a:p>
          <a:p>
            <a:pPr algn="l"/>
            <a:endParaRPr lang="en-US" sz="2200" b="1" i="0" u="none" strike="noStrike" baseline="0" dirty="0">
              <a:solidFill>
                <a:srgbClr val="052049"/>
              </a:solidFill>
              <a:latin typeface="ArialMT"/>
            </a:endParaRPr>
          </a:p>
          <a:p>
            <a:pPr algn="l"/>
            <a:r>
              <a:rPr lang="en-US" sz="2200" b="1" i="0" u="none" strike="noStrike" baseline="0" dirty="0">
                <a:solidFill>
                  <a:srgbClr val="052049"/>
                </a:solidFill>
                <a:latin typeface="Wingdings-Regular"/>
              </a:rPr>
              <a:t> </a:t>
            </a:r>
            <a:r>
              <a:rPr lang="en-US" sz="2200" b="1" i="0" u="none" strike="noStrike" baseline="0" dirty="0">
                <a:solidFill>
                  <a:srgbClr val="052049"/>
                </a:solidFill>
                <a:latin typeface="ArialMT"/>
              </a:rPr>
              <a:t>Whatever design is chosen, careful attention must be given to the viability of the assumptions of the design, adding design and analysis features to address</a:t>
            </a:r>
          </a:p>
          <a:p>
            <a:pPr algn="l"/>
            <a:r>
              <a:rPr lang="en-US" sz="2200" b="1" i="0" u="none" strike="noStrike" baseline="0" dirty="0">
                <a:solidFill>
                  <a:srgbClr val="052049"/>
                </a:solidFill>
                <a:latin typeface="ArialMT"/>
              </a:rPr>
              <a:t>plausible threats to validity.  </a:t>
            </a:r>
            <a:r>
              <a:rPr lang="en-US" sz="2200" b="0" i="0" u="none" strike="noStrike" baseline="0" dirty="0">
                <a:solidFill>
                  <a:srgbClr val="052049"/>
                </a:solidFill>
                <a:latin typeface="ArialMT"/>
              </a:rPr>
              <a:t>This course helped us think through design and analysis features to include.</a:t>
            </a:r>
            <a:endParaRPr lang="en-US" sz="2200" b="1" i="0" u="none" strike="noStrike" baseline="0" dirty="0">
              <a:solidFill>
                <a:srgbClr val="3581F2"/>
              </a:solidFill>
              <a:latin typeface="ArialMT"/>
            </a:endParaRPr>
          </a:p>
          <a:p>
            <a:pPr algn="l"/>
            <a:endParaRPr lang="en-US" sz="2200" dirty="0"/>
          </a:p>
          <a:p>
            <a:pPr algn="l"/>
            <a:endParaRPr lang="en-US" sz="2200" dirty="0"/>
          </a:p>
          <a:p>
            <a:pPr algn="l"/>
            <a:r>
              <a:rPr lang="en-US" sz="2200" b="0" dirty="0"/>
              <a:t>See attached handout(?) on real world intervention designs to consider – these designs were reviewed in this course and we will go over a few of them very briefly right now.</a:t>
            </a:r>
          </a:p>
          <a:p>
            <a:pPr algn="l"/>
            <a:endParaRPr lang="en-US" sz="1600" b="0" dirty="0"/>
          </a:p>
          <a:p>
            <a:pPr algn="l"/>
            <a:endParaRPr lang="en-US" sz="1600" b="0" dirty="0"/>
          </a:p>
          <a:p>
            <a:pPr marL="0" indent="0" algn="l">
              <a:buFont typeface="Wingdings" panose="05000000000000000000" pitchFamily="2" charset="2"/>
              <a:buNone/>
            </a:pPr>
            <a:endParaRPr lang="en-US" sz="1800" b="0" i="0" u="none" strike="noStrike" baseline="0" dirty="0">
              <a:solidFill>
                <a:srgbClr val="052049"/>
              </a:solidFill>
              <a:latin typeface="ArialMT"/>
            </a:endParaRPr>
          </a:p>
        </p:txBody>
      </p:sp>
      <p:sp>
        <p:nvSpPr>
          <p:cNvPr id="4" name="Slide Number Placeholder 3"/>
          <p:cNvSpPr>
            <a:spLocks noGrp="1"/>
          </p:cNvSpPr>
          <p:nvPr>
            <p:ph type="sldNum" sz="quarter" idx="5"/>
          </p:nvPr>
        </p:nvSpPr>
        <p:spPr/>
        <p:txBody>
          <a:bodyPr/>
          <a:lstStyle/>
          <a:p>
            <a:fld id="{57513A7F-ED43-4CC5-9607-D648E698D27A}" type="slidenum">
              <a:rPr lang="en-US" smtClean="0"/>
              <a:t>3</a:t>
            </a:fld>
            <a:endParaRPr lang="en-US"/>
          </a:p>
        </p:txBody>
      </p:sp>
    </p:spTree>
    <p:extLst>
      <p:ext uri="{BB962C8B-B14F-4D97-AF65-F5344CB8AC3E}">
        <p14:creationId xmlns:p14="http://schemas.microsoft.com/office/powerpoint/2010/main" val="2678547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7513A7F-ED43-4CC5-9607-D648E698D27A}" type="slidenum">
              <a:rPr lang="en-US" smtClean="0"/>
              <a:t>4</a:t>
            </a:fld>
            <a:endParaRPr lang="en-US"/>
          </a:p>
        </p:txBody>
      </p:sp>
    </p:spTree>
    <p:extLst>
      <p:ext uri="{BB962C8B-B14F-4D97-AF65-F5344CB8AC3E}">
        <p14:creationId xmlns:p14="http://schemas.microsoft.com/office/powerpoint/2010/main" val="2174086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ea typeface="Aptos" panose="020B0004020202020204" pitchFamily="34" charset="0"/>
                <a:cs typeface="Times New Roman" panose="02020603050405020304" pitchFamily="18" charset="0"/>
              </a:rPr>
              <a:t>We know about the pre-post intervention design (above) and its </a:t>
            </a:r>
            <a:r>
              <a:rPr lang="en-US" sz="2800" dirty="0"/>
              <a:t>weaknesses</a:t>
            </a:r>
            <a:r>
              <a:rPr lang="en-US" sz="4000" dirty="0"/>
              <a:t>.</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ea typeface="Aptos" panose="020B0004020202020204" pitchFamily="34" charset="0"/>
                <a:cs typeface="Times New Roman" panose="02020603050405020304" pitchFamily="18" charset="0"/>
              </a:rPr>
              <a:t>To improve upon this, incorporating a non-equivalent group (below) is a valuable next step.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cs typeface="Times New Roman" panose="02020603050405020304" pitchFamily="18" charset="0"/>
              </a:rPr>
              <a:t>--</a:t>
            </a:r>
            <a:endParaRPr lang="en-US" sz="28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dirty="0"/>
              <a:t>Eligible individuals for the intervention as exposed and a separate population as unexposed are assessed at baseline and follow-up. Samples from both populations can include the same individuals (cohort) or different individuals (cross-section) at each time point.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dirty="0">
                <a:effectLst/>
                <a:latin typeface="Aptos" panose="020B0004020202020204" pitchFamily="34" charset="0"/>
                <a:ea typeface="Aptos" panose="020B0004020202020204" pitchFamily="34" charset="0"/>
                <a:cs typeface="Times New Roman" panose="02020603050405020304" pitchFamily="18" charset="0"/>
              </a:rPr>
              <a:t>--</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ea typeface="Aptos" panose="020B0004020202020204" pitchFamily="34" charset="0"/>
                <a:cs typeface="Times New Roman" panose="02020603050405020304" pitchFamily="18" charset="0"/>
              </a:rPr>
              <a:t>Although these groups are not randomized and bias cannot be entirely ruled out, this approach is often better than no control at all. </a:t>
            </a:r>
          </a:p>
          <a:p>
            <a:endParaRPr lang="en-US" dirty="0"/>
          </a:p>
        </p:txBody>
      </p:sp>
      <p:sp>
        <p:nvSpPr>
          <p:cNvPr id="4" name="Slide Number Placeholder 3"/>
          <p:cNvSpPr>
            <a:spLocks noGrp="1"/>
          </p:cNvSpPr>
          <p:nvPr>
            <p:ph type="sldNum" sz="quarter" idx="5"/>
          </p:nvPr>
        </p:nvSpPr>
        <p:spPr/>
        <p:txBody>
          <a:bodyPr/>
          <a:lstStyle/>
          <a:p>
            <a:fld id="{57513A7F-ED43-4CC5-9607-D648E698D27A}" type="slidenum">
              <a:rPr lang="en-US" smtClean="0"/>
              <a:t>5</a:t>
            </a:fld>
            <a:endParaRPr lang="en-US"/>
          </a:p>
        </p:txBody>
      </p:sp>
    </p:spTree>
    <p:extLst>
      <p:ext uri="{BB962C8B-B14F-4D97-AF65-F5344CB8AC3E}">
        <p14:creationId xmlns:p14="http://schemas.microsoft.com/office/powerpoint/2010/main" val="692194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In this figure, the non-intervention group is represented by the green line, while the intervention group is shown as the red line.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Without intervention, the red group's trajectory is expected to follow the dotted line, remaining parallel to the green line.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Any deviation from the dotted line (straight line) would indicate an effect from the intervention.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This design assumes that there are no group-specific trends that could influence the outcome independently of the intervention.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ea typeface="Aptos" panose="020B0004020202020204" pitchFamily="34"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Aptos" panose="020B0004020202020204" pitchFamily="34" charset="0"/>
                <a:ea typeface="Aptos" panose="020B0004020202020204" pitchFamily="34" charset="0"/>
                <a:cs typeface="Times New Roman" panose="02020603050405020304" pitchFamily="18" charset="0"/>
              </a:rPr>
              <a:t>This design can still yield meaningful findings, especially in some research topics (unethical/unacceptable) or study settings (unfeasible) where randomization is not possible. However, it's crucial to account for these limitations in the study population selection (minimize selection bias), data collection (minimize information bias), and analysis to maximize the validity of the results.</a:t>
            </a:r>
          </a:p>
          <a:p>
            <a:endParaRPr lang="en-US" dirty="0"/>
          </a:p>
        </p:txBody>
      </p:sp>
      <p:sp>
        <p:nvSpPr>
          <p:cNvPr id="4" name="Slide Number Placeholder 3"/>
          <p:cNvSpPr>
            <a:spLocks noGrp="1"/>
          </p:cNvSpPr>
          <p:nvPr>
            <p:ph type="sldNum" sz="quarter" idx="5"/>
          </p:nvPr>
        </p:nvSpPr>
        <p:spPr/>
        <p:txBody>
          <a:bodyPr/>
          <a:lstStyle/>
          <a:p>
            <a:fld id="{57513A7F-ED43-4CC5-9607-D648E698D27A}" type="slidenum">
              <a:rPr lang="en-US" smtClean="0"/>
              <a:t>6</a:t>
            </a:fld>
            <a:endParaRPr lang="en-US"/>
          </a:p>
        </p:txBody>
      </p:sp>
    </p:spTree>
    <p:extLst>
      <p:ext uri="{BB962C8B-B14F-4D97-AF65-F5344CB8AC3E}">
        <p14:creationId xmlns:p14="http://schemas.microsoft.com/office/powerpoint/2010/main" val="1532891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is another approach to improving pre-post intervention design. </a:t>
            </a:r>
          </a:p>
          <a:p>
            <a:r>
              <a:rPr lang="en-US" dirty="0"/>
              <a:t>It measures outcomes before, during, and after the intervention. </a:t>
            </a:r>
          </a:p>
          <a:p>
            <a:r>
              <a:rPr lang="en-US" dirty="0"/>
              <a:t>The key difference is that ITS captures multiple time points before and after the intervention, allowing it to establish a pre-intervention trend. </a:t>
            </a:r>
          </a:p>
          <a:p>
            <a:r>
              <a:rPr lang="en-US" dirty="0"/>
              <a:t>Any deviation from this trend (slope) after the intervention is considered a change attributable to the intervention.</a:t>
            </a:r>
          </a:p>
        </p:txBody>
      </p:sp>
      <p:sp>
        <p:nvSpPr>
          <p:cNvPr id="4" name="Slide Number Placeholder 3"/>
          <p:cNvSpPr>
            <a:spLocks noGrp="1"/>
          </p:cNvSpPr>
          <p:nvPr>
            <p:ph type="sldNum" sz="quarter" idx="5"/>
          </p:nvPr>
        </p:nvSpPr>
        <p:spPr/>
        <p:txBody>
          <a:bodyPr/>
          <a:lstStyle/>
          <a:p>
            <a:fld id="{57513A7F-ED43-4CC5-9607-D648E698D27A}" type="slidenum">
              <a:rPr lang="en-US" smtClean="0"/>
              <a:t>7</a:t>
            </a:fld>
            <a:endParaRPr lang="en-US"/>
          </a:p>
        </p:txBody>
      </p:sp>
    </p:spTree>
    <p:extLst>
      <p:ext uri="{BB962C8B-B14F-4D97-AF65-F5344CB8AC3E}">
        <p14:creationId xmlns:p14="http://schemas.microsoft.com/office/powerpoint/2010/main" val="10173776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figure illustrating a change in level immediately after the intervention, followed by a change in trend or slope.</a:t>
            </a:r>
          </a:p>
        </p:txBody>
      </p:sp>
      <p:sp>
        <p:nvSpPr>
          <p:cNvPr id="4" name="Slide Number Placeholder 3"/>
          <p:cNvSpPr>
            <a:spLocks noGrp="1"/>
          </p:cNvSpPr>
          <p:nvPr>
            <p:ph type="sldNum" sz="quarter" idx="5"/>
          </p:nvPr>
        </p:nvSpPr>
        <p:spPr/>
        <p:txBody>
          <a:bodyPr/>
          <a:lstStyle/>
          <a:p>
            <a:fld id="{57513A7F-ED43-4CC5-9607-D648E698D27A}" type="slidenum">
              <a:rPr lang="en-US" smtClean="0"/>
              <a:t>8</a:t>
            </a:fld>
            <a:endParaRPr lang="en-US"/>
          </a:p>
        </p:txBody>
      </p:sp>
    </p:spTree>
    <p:extLst>
      <p:ext uri="{BB962C8B-B14F-4D97-AF65-F5344CB8AC3E}">
        <p14:creationId xmlns:p14="http://schemas.microsoft.com/office/powerpoint/2010/main" val="13017869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7513A7F-ED43-4CC5-9607-D648E698D27A}" type="slidenum">
              <a:rPr lang="en-US" smtClean="0"/>
              <a:t>9</a:t>
            </a:fld>
            <a:endParaRPr lang="en-US"/>
          </a:p>
        </p:txBody>
      </p:sp>
    </p:spTree>
    <p:extLst>
      <p:ext uri="{BB962C8B-B14F-4D97-AF65-F5344CB8AC3E}">
        <p14:creationId xmlns:p14="http://schemas.microsoft.com/office/powerpoint/2010/main" val="3327444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1" i="0" u="none" strike="noStrike" baseline="0" dirty="0">
                <a:solidFill>
                  <a:srgbClr val="052049"/>
                </a:solidFill>
                <a:latin typeface="CIDFont+F1"/>
              </a:rPr>
              <a:t>I will say some (but not all of this), and then move into the specific type of cluster trial : Stepped Wedge Design</a:t>
            </a:r>
          </a:p>
          <a:p>
            <a:pPr algn="l"/>
            <a:endParaRPr lang="en-US" sz="1800" b="1" i="0" u="none" strike="noStrike" baseline="0" dirty="0">
              <a:solidFill>
                <a:srgbClr val="052049"/>
              </a:solidFill>
              <a:latin typeface="CIDFont+F1"/>
            </a:endParaRPr>
          </a:p>
          <a:p>
            <a:pPr algn="l"/>
            <a:r>
              <a:rPr lang="en-US" sz="1800" b="1" i="0" u="none" strike="noStrike" baseline="0" dirty="0">
                <a:solidFill>
                  <a:srgbClr val="052049"/>
                </a:solidFill>
                <a:latin typeface="CIDFont+F1"/>
              </a:rPr>
              <a:t>Why do a cluster trial?</a:t>
            </a:r>
          </a:p>
          <a:p>
            <a:pPr algn="l"/>
            <a:r>
              <a:rPr lang="en-US" sz="1800" b="0" i="0" u="none" strike="noStrike" baseline="0" dirty="0">
                <a:solidFill>
                  <a:srgbClr val="052049"/>
                </a:solidFill>
                <a:latin typeface="CIDFont+F4"/>
              </a:rPr>
              <a:t>&gt; </a:t>
            </a:r>
            <a:r>
              <a:rPr lang="en-US" sz="1800" b="1" i="0" u="none" strike="noStrike" baseline="0" dirty="0">
                <a:solidFill>
                  <a:srgbClr val="052049"/>
                </a:solidFill>
                <a:latin typeface="CIDFont+F2"/>
              </a:rPr>
              <a:t>Intervention naturally applied at the cluster level</a:t>
            </a:r>
          </a:p>
          <a:p>
            <a:pPr algn="l"/>
            <a:r>
              <a:rPr lang="en-US" sz="1800" b="0" i="0" u="none" strike="noStrike" baseline="0" dirty="0">
                <a:solidFill>
                  <a:srgbClr val="052049"/>
                </a:solidFill>
                <a:latin typeface="CIDFont+F2"/>
              </a:rPr>
              <a:t>• Administrative convenience</a:t>
            </a:r>
          </a:p>
          <a:p>
            <a:pPr algn="l"/>
            <a:r>
              <a:rPr lang="en-US" sz="1800" b="0" i="0" u="none" strike="noStrike" baseline="0" dirty="0">
                <a:solidFill>
                  <a:srgbClr val="052049"/>
                </a:solidFill>
                <a:latin typeface="CIDFont+F2"/>
              </a:rPr>
              <a:t>• Cooperation of implementers</a:t>
            </a:r>
          </a:p>
          <a:p>
            <a:pPr algn="l"/>
            <a:r>
              <a:rPr lang="en-US" sz="1800" b="0" i="0" u="none" strike="noStrike" baseline="0" dirty="0">
                <a:solidFill>
                  <a:srgbClr val="052049"/>
                </a:solidFill>
                <a:latin typeface="CIDFont+F2"/>
              </a:rPr>
              <a:t>• Enhance participant participation</a:t>
            </a:r>
          </a:p>
          <a:p>
            <a:pPr algn="l"/>
            <a:r>
              <a:rPr lang="en-US" sz="1800" b="0" i="0" u="none" strike="noStrike" baseline="0" dirty="0">
                <a:solidFill>
                  <a:srgbClr val="052049"/>
                </a:solidFill>
                <a:latin typeface="CIDFont+F4"/>
              </a:rPr>
              <a:t>&gt; </a:t>
            </a:r>
            <a:r>
              <a:rPr lang="en-US" sz="1800" b="1" i="0" u="none" strike="noStrike" baseline="0" dirty="0">
                <a:solidFill>
                  <a:srgbClr val="052049"/>
                </a:solidFill>
                <a:latin typeface="CIDFont+F2"/>
              </a:rPr>
              <a:t>Avoid contamination</a:t>
            </a:r>
          </a:p>
          <a:p>
            <a:pPr algn="l"/>
            <a:r>
              <a:rPr lang="en-US" sz="1800" b="0" i="0" u="none" strike="noStrike" baseline="0" dirty="0">
                <a:solidFill>
                  <a:srgbClr val="052049"/>
                </a:solidFill>
                <a:latin typeface="CIDFont+F2"/>
              </a:rPr>
              <a:t>• No overlap between intervention and control settings</a:t>
            </a:r>
          </a:p>
          <a:p>
            <a:pPr algn="l"/>
            <a:endParaRPr lang="en-US" sz="1800" b="0" i="0" u="none" strike="noStrike" baseline="0" dirty="0">
              <a:solidFill>
                <a:srgbClr val="052049"/>
              </a:solidFill>
              <a:latin typeface="CIDFont+F2"/>
            </a:endParaRPr>
          </a:p>
          <a:p>
            <a:pPr algn="l"/>
            <a:r>
              <a:rPr lang="en-US" sz="1800" b="1" i="0" u="none" strike="noStrike" baseline="0" dirty="0">
                <a:solidFill>
                  <a:srgbClr val="052049"/>
                </a:solidFill>
                <a:latin typeface="CIDFont+F1"/>
              </a:rPr>
              <a:t>Why NOT do a cluster trial?</a:t>
            </a:r>
          </a:p>
          <a:p>
            <a:pPr algn="l"/>
            <a:r>
              <a:rPr lang="en-US" sz="1800" b="0" i="0" u="none" strike="noStrike" baseline="0" dirty="0">
                <a:solidFill>
                  <a:srgbClr val="052049"/>
                </a:solidFill>
                <a:latin typeface="CIDFont+F4"/>
              </a:rPr>
              <a:t>&gt; </a:t>
            </a:r>
            <a:r>
              <a:rPr lang="en-US" sz="1800" b="1" i="0" u="none" strike="noStrike" baseline="0" dirty="0">
                <a:solidFill>
                  <a:srgbClr val="052049"/>
                </a:solidFill>
                <a:latin typeface="CIDFont+F2"/>
              </a:rPr>
              <a:t>Larger sample size required, sometimes MUCH larger</a:t>
            </a:r>
          </a:p>
          <a:p>
            <a:pPr algn="l"/>
            <a:r>
              <a:rPr lang="en-US" sz="1800" b="0" i="0" u="none" strike="noStrike" baseline="0" dirty="0">
                <a:solidFill>
                  <a:srgbClr val="052049"/>
                </a:solidFill>
                <a:latin typeface="CIDFont+F2"/>
              </a:rPr>
              <a:t>• Difficult to know how much larger</a:t>
            </a:r>
          </a:p>
          <a:p>
            <a:pPr algn="l"/>
            <a:r>
              <a:rPr lang="en-US" sz="1800" b="0" i="0" u="none" strike="noStrike" baseline="0" dirty="0">
                <a:solidFill>
                  <a:srgbClr val="052049"/>
                </a:solidFill>
                <a:latin typeface="CIDFont+F4"/>
              </a:rPr>
              <a:t>&gt;  </a:t>
            </a:r>
            <a:r>
              <a:rPr lang="en-US" sz="1800" b="1" i="0" u="none" strike="noStrike" baseline="0" dirty="0">
                <a:solidFill>
                  <a:srgbClr val="052049"/>
                </a:solidFill>
                <a:latin typeface="CIDFont+F2"/>
              </a:rPr>
              <a:t>Randomization may not eliminate confounding</a:t>
            </a:r>
          </a:p>
          <a:p>
            <a:pPr algn="l"/>
            <a:r>
              <a:rPr lang="en-US" sz="1800" b="0" i="0" u="none" strike="noStrike" baseline="0" dirty="0">
                <a:solidFill>
                  <a:srgbClr val="052049"/>
                </a:solidFill>
                <a:latin typeface="CIDFont+F2"/>
              </a:rPr>
              <a:t>• If number of clusters is small, then balance unlikely</a:t>
            </a:r>
          </a:p>
          <a:p>
            <a:pPr algn="l"/>
            <a:r>
              <a:rPr lang="en-US" sz="1800" b="0" i="0" u="none" strike="noStrike" baseline="0" dirty="0">
                <a:solidFill>
                  <a:srgbClr val="052049"/>
                </a:solidFill>
                <a:latin typeface="CIDFont+F4"/>
              </a:rPr>
              <a:t>&gt; </a:t>
            </a:r>
            <a:r>
              <a:rPr lang="en-US" sz="1800" b="1" i="0" u="none" strike="noStrike" baseline="0" dirty="0">
                <a:solidFill>
                  <a:srgbClr val="052049"/>
                </a:solidFill>
                <a:latin typeface="CIDFont+F2"/>
              </a:rPr>
              <a:t>Blinding</a:t>
            </a:r>
          </a:p>
          <a:p>
            <a:pPr algn="l"/>
            <a:r>
              <a:rPr lang="en-US" sz="1800" b="0" i="0" u="none" strike="noStrike" baseline="0" dirty="0">
                <a:solidFill>
                  <a:srgbClr val="052049"/>
                </a:solidFill>
                <a:latin typeface="CIDFont+F2"/>
              </a:rPr>
              <a:t>• Difficult to blind implementers</a:t>
            </a:r>
          </a:p>
          <a:p>
            <a:pPr algn="l"/>
            <a:r>
              <a:rPr lang="en-US" sz="1800" b="0" i="0" u="none" strike="noStrike" baseline="0" dirty="0">
                <a:solidFill>
                  <a:srgbClr val="052049"/>
                </a:solidFill>
                <a:latin typeface="CIDFont+F4"/>
              </a:rPr>
              <a:t>&gt; </a:t>
            </a:r>
            <a:r>
              <a:rPr lang="en-US" sz="1800" b="1" i="0" u="none" strike="noStrike" baseline="0" dirty="0">
                <a:solidFill>
                  <a:srgbClr val="052049"/>
                </a:solidFill>
                <a:latin typeface="CIDFont+F2"/>
              </a:rPr>
              <a:t>Analysis may be more complex</a:t>
            </a:r>
          </a:p>
          <a:p>
            <a:pPr algn="l"/>
            <a:r>
              <a:rPr lang="en-US" sz="1800" b="0" i="0" u="none" strike="noStrike" baseline="0" dirty="0">
                <a:solidFill>
                  <a:srgbClr val="052049"/>
                </a:solidFill>
                <a:latin typeface="CIDFont+F2"/>
              </a:rPr>
              <a:t>• If outcomes assessed at the individual-level, clustering and imbalance must be</a:t>
            </a:r>
          </a:p>
          <a:p>
            <a:pPr algn="l"/>
            <a:r>
              <a:rPr lang="en-US" sz="1800" b="0" i="0" u="none" strike="noStrike" baseline="0" dirty="0">
                <a:solidFill>
                  <a:srgbClr val="052049"/>
                </a:solidFill>
                <a:latin typeface="CIDFont+F2"/>
              </a:rPr>
              <a:t>taken into account in analysis</a:t>
            </a:r>
          </a:p>
          <a:p>
            <a:pPr algn="l"/>
            <a:endParaRPr lang="en-US" sz="1800" b="0" i="0" u="none" strike="noStrike" baseline="0" dirty="0">
              <a:solidFill>
                <a:srgbClr val="052049"/>
              </a:solidFill>
              <a:latin typeface="CIDFont+F2"/>
            </a:endParaRPr>
          </a:p>
          <a:p>
            <a:pPr algn="l"/>
            <a:r>
              <a:rPr lang="en-US" sz="1800" b="1" i="0" u="none" strike="noStrike" baseline="0" dirty="0">
                <a:solidFill>
                  <a:srgbClr val="052049"/>
                </a:solidFill>
                <a:latin typeface="CIDFont+F1"/>
              </a:rPr>
              <a:t>Why </a:t>
            </a:r>
            <a:r>
              <a:rPr lang="en-US" sz="1800" b="1" i="0" u="sng" strike="noStrike" baseline="0" dirty="0">
                <a:solidFill>
                  <a:srgbClr val="052049"/>
                </a:solidFill>
                <a:latin typeface="CIDFont+F1"/>
              </a:rPr>
              <a:t>randomize</a:t>
            </a:r>
            <a:r>
              <a:rPr lang="en-US" sz="1800" b="1" i="0" u="none" strike="noStrike" baseline="0" dirty="0">
                <a:solidFill>
                  <a:srgbClr val="052049"/>
                </a:solidFill>
                <a:latin typeface="CIDFont+F1"/>
              </a:rPr>
              <a:t> clusters?</a:t>
            </a:r>
          </a:p>
          <a:p>
            <a:pPr algn="l"/>
            <a:r>
              <a:rPr lang="en-US" sz="1800" b="1" i="0" u="none" strike="noStrike" baseline="0" dirty="0">
                <a:solidFill>
                  <a:srgbClr val="052049"/>
                </a:solidFill>
                <a:latin typeface="CIDFont+F1"/>
              </a:rPr>
              <a:t>     &gt; increases internal validity, reduces confounding, selection bias, and increases fidelity</a:t>
            </a:r>
          </a:p>
          <a:p>
            <a:pPr algn="l"/>
            <a:endParaRPr lang="en-US" sz="1800" b="0" i="0" u="none" strike="noStrike" baseline="0" dirty="0">
              <a:solidFill>
                <a:srgbClr val="052049"/>
              </a:solidFill>
              <a:latin typeface="CIDFont+F4"/>
            </a:endParaRPr>
          </a:p>
          <a:p>
            <a:pPr algn="l"/>
            <a:r>
              <a:rPr lang="en-US" sz="1800" b="0" i="0" u="none" strike="noStrike" baseline="0" dirty="0">
                <a:solidFill>
                  <a:srgbClr val="052049"/>
                </a:solidFill>
                <a:latin typeface="CIDFont+F4"/>
              </a:rPr>
              <a:t>&gt; </a:t>
            </a:r>
            <a:r>
              <a:rPr lang="en-US" sz="1800" b="0" i="0" u="none" strike="noStrike" baseline="0" dirty="0">
                <a:solidFill>
                  <a:srgbClr val="052049"/>
                </a:solidFill>
                <a:latin typeface="CIDFont+F2"/>
              </a:rPr>
              <a:t>Randomization more likely to balance providers and participants on measured and unmeasured factors (internal validity)</a:t>
            </a:r>
          </a:p>
          <a:p>
            <a:pPr algn="l"/>
            <a:r>
              <a:rPr lang="en-US" sz="1800" b="0" i="0" u="none" strike="noStrike" baseline="0" dirty="0">
                <a:solidFill>
                  <a:srgbClr val="052049"/>
                </a:solidFill>
                <a:latin typeface="CIDFont+F2"/>
              </a:rPr>
              <a:t>&gt;  Pre-trial level and trend in outcomes (temporal trends)</a:t>
            </a:r>
          </a:p>
          <a:p>
            <a:pPr marL="285750" indent="-285750" algn="l">
              <a:buFont typeface="Wingdings" panose="05000000000000000000" pitchFamily="2" charset="2"/>
              <a:buChar char="Ø"/>
            </a:pPr>
            <a:r>
              <a:rPr lang="en-US" sz="1800" b="0" i="0" u="none" strike="noStrike" baseline="0" dirty="0">
                <a:solidFill>
                  <a:srgbClr val="052049"/>
                </a:solidFill>
                <a:latin typeface="CIDFont+F2"/>
              </a:rPr>
              <a:t>Provider and patient characteristics at baseline (confounding)</a:t>
            </a:r>
          </a:p>
          <a:p>
            <a:pPr algn="l"/>
            <a:r>
              <a:rPr lang="en-US" sz="1800" b="0" i="0" u="none" strike="noStrike" baseline="0" dirty="0">
                <a:solidFill>
                  <a:srgbClr val="052049"/>
                </a:solidFill>
                <a:latin typeface="CIDFont+F2"/>
              </a:rPr>
              <a:t>&gt; Motivation to participate in the trial (selection bias)</a:t>
            </a:r>
          </a:p>
          <a:p>
            <a:pPr algn="l"/>
            <a:r>
              <a:rPr lang="en-US" sz="1800" b="0" i="0" u="none" strike="noStrike" baseline="0" dirty="0">
                <a:solidFill>
                  <a:srgbClr val="052049"/>
                </a:solidFill>
                <a:latin typeface="CIDFont+F2"/>
              </a:rPr>
              <a:t>&gt; Motivation to implement / participate in the intervention (fidelity)</a:t>
            </a:r>
          </a:p>
          <a:p>
            <a:pPr algn="l"/>
            <a:r>
              <a:rPr lang="en-US" sz="1800" b="0" i="0" u="none" strike="noStrike" baseline="0" dirty="0">
                <a:solidFill>
                  <a:srgbClr val="052049"/>
                </a:solidFill>
                <a:latin typeface="CIDFont+F2"/>
              </a:rPr>
              <a:t> :&gt;Motivation to remain in the trial (differential loss-to follow-up)</a:t>
            </a:r>
            <a:endParaRPr lang="en-US" dirty="0"/>
          </a:p>
        </p:txBody>
      </p:sp>
      <p:sp>
        <p:nvSpPr>
          <p:cNvPr id="4" name="Slide Number Placeholder 3"/>
          <p:cNvSpPr>
            <a:spLocks noGrp="1"/>
          </p:cNvSpPr>
          <p:nvPr>
            <p:ph type="sldNum" sz="quarter" idx="5"/>
          </p:nvPr>
        </p:nvSpPr>
        <p:spPr/>
        <p:txBody>
          <a:bodyPr/>
          <a:lstStyle/>
          <a:p>
            <a:fld id="{57513A7F-ED43-4CC5-9607-D648E698D27A}" type="slidenum">
              <a:rPr lang="en-US" smtClean="0"/>
              <a:t>10</a:t>
            </a:fld>
            <a:endParaRPr lang="en-US"/>
          </a:p>
        </p:txBody>
      </p:sp>
    </p:spTree>
    <p:extLst>
      <p:ext uri="{BB962C8B-B14F-4D97-AF65-F5344CB8AC3E}">
        <p14:creationId xmlns:p14="http://schemas.microsoft.com/office/powerpoint/2010/main" val="386509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1" i="0" u="none" strike="noStrike" baseline="0" dirty="0">
                <a:solidFill>
                  <a:srgbClr val="052049"/>
                </a:solidFill>
                <a:latin typeface="CIDFont+F2"/>
              </a:rPr>
              <a:t>Details</a:t>
            </a:r>
          </a:p>
          <a:p>
            <a:pPr algn="l"/>
            <a:r>
              <a:rPr lang="en-US" sz="1800" b="0" i="0" u="none" strike="noStrike" baseline="0" dirty="0">
                <a:latin typeface="SymbolMT"/>
              </a:rPr>
              <a:t>• </a:t>
            </a:r>
            <a:r>
              <a:rPr lang="en-US" sz="1800" b="0" i="0" u="none" strike="noStrike" baseline="0" dirty="0">
                <a:latin typeface="Calibri" panose="020F0502020204030204" pitchFamily="34" charset="0"/>
              </a:rPr>
              <a:t>A ‘roll-out’ design where the intervention is placed into a setting at a specific time</a:t>
            </a:r>
          </a:p>
          <a:p>
            <a:pPr algn="l"/>
            <a:r>
              <a:rPr lang="en-US" sz="1800" b="0" i="0" u="none" strike="noStrike" baseline="0" dirty="0">
                <a:latin typeface="SymbolMT"/>
              </a:rPr>
              <a:t>• </a:t>
            </a:r>
            <a:r>
              <a:rPr lang="en-US" sz="1800" b="0" i="0" u="none" strike="noStrike" baseline="0" dirty="0">
                <a:latin typeface="Calibri" panose="020F0502020204030204" pitchFamily="34" charset="0"/>
              </a:rPr>
              <a:t>Intervention is rolled out over time, usually at the site level, and the groups not yet receiving the intervention provide control data for the relevant time periods</a:t>
            </a:r>
          </a:p>
          <a:p>
            <a:pPr algn="l"/>
            <a:r>
              <a:rPr lang="en-US" sz="1800" b="0" i="0" u="none" strike="noStrike" baseline="0" dirty="0">
                <a:latin typeface="SymbolMT"/>
              </a:rPr>
              <a:t>• </a:t>
            </a:r>
            <a:r>
              <a:rPr lang="en-US" sz="1800" b="0" i="0" u="none" strike="noStrike" baseline="0" dirty="0">
                <a:latin typeface="Calibri" panose="020F0502020204030204" pitchFamily="34" charset="0"/>
              </a:rPr>
              <a:t>Participants/sites who initially do not receive the intervention later crossover to receive the Intervention</a:t>
            </a:r>
          </a:p>
          <a:p>
            <a:pPr algn="l"/>
            <a:endParaRPr lang="en-US" sz="1800" b="0" i="0" u="none" strike="noStrike" baseline="0" dirty="0">
              <a:solidFill>
                <a:srgbClr val="052049"/>
              </a:solidFill>
              <a:latin typeface="CIDFont+F2"/>
            </a:endParaRPr>
          </a:p>
          <a:p>
            <a:pPr algn="l"/>
            <a:r>
              <a:rPr lang="en-US" sz="1800" b="0" i="0" u="none" strike="noStrike" baseline="0" dirty="0">
                <a:solidFill>
                  <a:srgbClr val="052049"/>
                </a:solidFill>
                <a:latin typeface="CIDFont+F2"/>
              </a:rPr>
              <a:t>Cross-over trial</a:t>
            </a:r>
          </a:p>
          <a:p>
            <a:pPr algn="l"/>
            <a:r>
              <a:rPr lang="en-US" sz="1800" b="0" i="0" u="none" strike="noStrike" baseline="0" dirty="0">
                <a:solidFill>
                  <a:srgbClr val="052049"/>
                </a:solidFill>
                <a:latin typeface="CIDFont+F2"/>
              </a:rPr>
              <a:t>• Time of crossover assigned</a:t>
            </a:r>
          </a:p>
          <a:p>
            <a:pPr algn="l"/>
            <a:r>
              <a:rPr lang="en-US" sz="1800" b="0" i="0" u="none" strike="noStrike" baseline="0" dirty="0">
                <a:solidFill>
                  <a:srgbClr val="052049"/>
                </a:solidFill>
                <a:latin typeface="CIDFont+F2"/>
              </a:rPr>
              <a:t>• </a:t>
            </a:r>
            <a:r>
              <a:rPr lang="en-US" sz="1800" b="1" i="0" u="none" strike="noStrike" baseline="0" dirty="0">
                <a:solidFill>
                  <a:srgbClr val="052049"/>
                </a:solidFill>
                <a:latin typeface="CIDFont+F2"/>
              </a:rPr>
              <a:t>Crossover is unidirectional</a:t>
            </a:r>
          </a:p>
          <a:p>
            <a:pPr algn="l"/>
            <a:r>
              <a:rPr lang="en-US" sz="1800" b="0" i="0" u="none" strike="noStrike" baseline="0" dirty="0">
                <a:solidFill>
                  <a:srgbClr val="052049"/>
                </a:solidFill>
                <a:latin typeface="CIDFont+F2"/>
              </a:rPr>
              <a:t>• Sample</a:t>
            </a:r>
          </a:p>
          <a:p>
            <a:pPr algn="l"/>
            <a:r>
              <a:rPr lang="en-US" sz="1800" b="0" i="0" u="none" strike="noStrike" baseline="0" dirty="0">
                <a:solidFill>
                  <a:srgbClr val="052049"/>
                </a:solidFill>
                <a:latin typeface="CIDFont+F2"/>
              </a:rPr>
              <a:t>• Not as sensitive to correlation within clusters (pre-post within clusters)</a:t>
            </a:r>
          </a:p>
          <a:p>
            <a:pPr algn="l"/>
            <a:r>
              <a:rPr lang="en-US" sz="1800" b="0" i="0" u="none" strike="noStrike" baseline="0" dirty="0">
                <a:solidFill>
                  <a:srgbClr val="052049"/>
                </a:solidFill>
                <a:latin typeface="CIDFont+F2"/>
              </a:rPr>
              <a:t>• At each time point, individuals may be same (cohort) or different (cross sectional)</a:t>
            </a:r>
          </a:p>
          <a:p>
            <a:pPr algn="l"/>
            <a:endParaRPr lang="en-US" sz="1800" b="0" i="0" u="none" strike="noStrike" baseline="0" dirty="0">
              <a:solidFill>
                <a:srgbClr val="052049"/>
              </a:solidFill>
              <a:latin typeface="CIDFont+F2"/>
            </a:endParaRPr>
          </a:p>
          <a:p>
            <a:pPr algn="l"/>
            <a:endParaRPr lang="en-US" sz="1800" b="0" i="0" u="none" strike="noStrike" baseline="0" dirty="0">
              <a:solidFill>
                <a:srgbClr val="052049"/>
              </a:solidFill>
              <a:latin typeface="CIDFont+F2"/>
            </a:endParaRPr>
          </a:p>
          <a:p>
            <a:pPr algn="l"/>
            <a:r>
              <a:rPr lang="en-US" sz="1800" b="0" i="0" u="none" strike="noStrike" baseline="0" dirty="0">
                <a:solidFill>
                  <a:srgbClr val="052049"/>
                </a:solidFill>
                <a:latin typeface="CIDFont+F2"/>
              </a:rPr>
              <a:t>Measurement</a:t>
            </a:r>
          </a:p>
          <a:p>
            <a:pPr algn="l"/>
            <a:r>
              <a:rPr lang="en-US" sz="1800" b="0" i="0" u="none" strike="noStrike" baseline="0" dirty="0">
                <a:solidFill>
                  <a:srgbClr val="052049"/>
                </a:solidFill>
                <a:latin typeface="CIDFont+F2"/>
              </a:rPr>
              <a:t>• Outcomes measured at each step</a:t>
            </a:r>
          </a:p>
          <a:p>
            <a:pPr algn="l"/>
            <a:r>
              <a:rPr lang="en-US" sz="1800" b="0" i="0" u="none" strike="noStrike" baseline="0" dirty="0">
                <a:solidFill>
                  <a:srgbClr val="052049"/>
                </a:solidFill>
                <a:latin typeface="CIDFont+F2"/>
              </a:rPr>
              <a:t>• May result in MANY more total observations</a:t>
            </a:r>
          </a:p>
          <a:p>
            <a:pPr algn="l"/>
            <a:r>
              <a:rPr lang="en-US" sz="1800" b="1" i="0" u="none" strike="noStrike" baseline="0" dirty="0">
                <a:solidFill>
                  <a:srgbClr val="052049"/>
                </a:solidFill>
                <a:latin typeface="CIDFont+F4"/>
              </a:rPr>
              <a:t> </a:t>
            </a:r>
            <a:r>
              <a:rPr lang="en-US" sz="1800" b="1" i="0" u="none" strike="noStrike" baseline="0" dirty="0">
                <a:solidFill>
                  <a:srgbClr val="052049"/>
                </a:solidFill>
                <a:latin typeface="CIDFont+F2"/>
              </a:rPr>
              <a:t>Analysis</a:t>
            </a:r>
          </a:p>
          <a:p>
            <a:pPr algn="l"/>
            <a:r>
              <a:rPr lang="en-US" sz="1800" b="0" i="0" u="none" strike="noStrike" baseline="0" dirty="0">
                <a:solidFill>
                  <a:srgbClr val="052049"/>
                </a:solidFill>
                <a:latin typeface="CIDFont+F2"/>
              </a:rPr>
              <a:t>• Similar to other Cluster Trials</a:t>
            </a:r>
          </a:p>
          <a:p>
            <a:pPr algn="l"/>
            <a:r>
              <a:rPr lang="en-US" sz="1800" b="0" i="0" u="none" strike="noStrike" baseline="0" dirty="0">
                <a:solidFill>
                  <a:srgbClr val="052049"/>
                </a:solidFill>
                <a:latin typeface="CIDFont+F2"/>
              </a:rPr>
              <a:t>‒ Must account for calendar time</a:t>
            </a:r>
          </a:p>
          <a:p>
            <a:pPr algn="l"/>
            <a:endParaRPr lang="en-US" dirty="0"/>
          </a:p>
        </p:txBody>
      </p:sp>
      <p:sp>
        <p:nvSpPr>
          <p:cNvPr id="4" name="Slide Number Placeholder 3"/>
          <p:cNvSpPr>
            <a:spLocks noGrp="1"/>
          </p:cNvSpPr>
          <p:nvPr>
            <p:ph type="sldNum" sz="quarter" idx="5"/>
          </p:nvPr>
        </p:nvSpPr>
        <p:spPr/>
        <p:txBody>
          <a:bodyPr/>
          <a:lstStyle/>
          <a:p>
            <a:fld id="{57513A7F-ED43-4CC5-9607-D648E698D27A}" type="slidenum">
              <a:rPr lang="en-US" smtClean="0"/>
              <a:t>11</a:t>
            </a:fld>
            <a:endParaRPr lang="en-US"/>
          </a:p>
        </p:txBody>
      </p:sp>
    </p:spTree>
    <p:extLst>
      <p:ext uri="{BB962C8B-B14F-4D97-AF65-F5344CB8AC3E}">
        <p14:creationId xmlns:p14="http://schemas.microsoft.com/office/powerpoint/2010/main" val="592661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1" i="0" u="none" strike="noStrike" baseline="0" dirty="0">
                <a:solidFill>
                  <a:srgbClr val="052049"/>
                </a:solidFill>
                <a:latin typeface="CIDFont+F2"/>
              </a:rPr>
              <a:t>Stepped Wedge Trials:</a:t>
            </a:r>
          </a:p>
          <a:p>
            <a:pPr algn="l"/>
            <a:endParaRPr lang="en-US" sz="1800" b="1" i="0" u="none" strike="noStrike" baseline="0" dirty="0">
              <a:solidFill>
                <a:srgbClr val="052049"/>
              </a:solidFill>
              <a:latin typeface="CIDFont+F2"/>
            </a:endParaRPr>
          </a:p>
          <a:p>
            <a:pPr algn="l"/>
            <a:endParaRPr lang="en-US" sz="1800" b="0" i="0" u="none" strike="noStrike" baseline="0" dirty="0">
              <a:solidFill>
                <a:srgbClr val="052049"/>
              </a:solidFill>
              <a:latin typeface="Calibri" panose="020F0502020204030204" pitchFamily="34" charset="0"/>
            </a:endParaRPr>
          </a:p>
          <a:p>
            <a:pPr algn="l"/>
            <a:r>
              <a:rPr lang="en-US" sz="1800" b="1" i="0" u="none" strike="noStrike" baseline="0" dirty="0">
                <a:solidFill>
                  <a:srgbClr val="052049"/>
                </a:solidFill>
                <a:latin typeface="Calibri" panose="020F0502020204030204" pitchFamily="34" charset="0"/>
              </a:rPr>
              <a:t>Advantages:</a:t>
            </a:r>
          </a:p>
          <a:p>
            <a:pPr algn="l"/>
            <a:endParaRPr lang="en-US" sz="1800" b="0" i="0" u="none" strike="noStrike" baseline="0" dirty="0">
              <a:latin typeface="Calibri" panose="020F0502020204030204" pitchFamily="34" charset="0"/>
            </a:endParaRPr>
          </a:p>
          <a:p>
            <a:pPr algn="l"/>
            <a:r>
              <a:rPr lang="en-US" sz="1800" b="0" i="0" u="none" strike="noStrike" baseline="0" dirty="0">
                <a:latin typeface="Calibri" panose="020F0502020204030204" pitchFamily="34" charset="0"/>
              </a:rPr>
              <a:t>&gt; Everyone/all sites get the intervention, which is appealing for perceived equity/fairness</a:t>
            </a:r>
          </a:p>
          <a:p>
            <a:pPr algn="l"/>
            <a:r>
              <a:rPr lang="en-US" sz="1800" b="0" i="0" u="none" strike="noStrike" baseline="0" dirty="0">
                <a:latin typeface="SymbolMT"/>
              </a:rPr>
              <a:t>&gt;</a:t>
            </a:r>
            <a:r>
              <a:rPr lang="en-US" sz="1800" b="0" i="0" u="none" strike="noStrike" baseline="0" dirty="0">
                <a:latin typeface="Calibri" panose="020F0502020204030204" pitchFamily="34" charset="0"/>
              </a:rPr>
              <a:t>Those who wait provide control data during the time when others receive the intervention</a:t>
            </a:r>
          </a:p>
          <a:p>
            <a:pPr algn="l"/>
            <a:r>
              <a:rPr lang="en-US" sz="1800" b="0" i="0" u="none" strike="noStrike" baseline="0" dirty="0">
                <a:solidFill>
                  <a:srgbClr val="052049"/>
                </a:solidFill>
                <a:latin typeface="Calibri" panose="020F0502020204030204" pitchFamily="34" charset="0"/>
              </a:rPr>
              <a:t>&gt; </a:t>
            </a:r>
            <a:r>
              <a:rPr lang="en-US" sz="1800" b="0" i="0" u="none" strike="noStrike" baseline="0" dirty="0">
                <a:latin typeface="Calibri" panose="020F0502020204030204" pitchFamily="34" charset="0"/>
              </a:rPr>
              <a:t>Investigators do not need to supply the intervention in all sites in a short timeframe, known as staggered implementation (also possible with Cluster Trials)</a:t>
            </a:r>
            <a:endParaRPr lang="en-US" sz="1800" b="0" i="0" u="none" strike="noStrike" baseline="0" dirty="0">
              <a:solidFill>
                <a:srgbClr val="052049"/>
              </a:solidFill>
              <a:latin typeface="Calibri" panose="020F0502020204030204" pitchFamily="34" charset="0"/>
            </a:endParaRPr>
          </a:p>
          <a:p>
            <a:pPr algn="l"/>
            <a:endParaRPr lang="en-US" sz="1800" b="0" i="0" u="none" strike="noStrike" baseline="0" dirty="0">
              <a:solidFill>
                <a:srgbClr val="052049"/>
              </a:solidFill>
              <a:latin typeface="Calibri" panose="020F0502020204030204" pitchFamily="34" charset="0"/>
            </a:endParaRPr>
          </a:p>
          <a:p>
            <a:pPr algn="l"/>
            <a:r>
              <a:rPr lang="en-US" sz="1800" b="1" i="0" u="none" strike="noStrike" baseline="0" dirty="0">
                <a:solidFill>
                  <a:srgbClr val="052049"/>
                </a:solidFill>
                <a:latin typeface="Calibri" panose="020F0502020204030204" pitchFamily="34" charset="0"/>
              </a:rPr>
              <a:t>However, there are important Disadvantages</a:t>
            </a:r>
          </a:p>
          <a:p>
            <a:pPr marL="285750" indent="-285750" algn="l">
              <a:buFont typeface="Wingdings" panose="05000000000000000000" pitchFamily="2" charset="2"/>
              <a:buChar char="Ø"/>
            </a:pPr>
            <a:r>
              <a:rPr lang="en-US" sz="1800" b="0" i="0" u="none" strike="noStrike" baseline="0" dirty="0">
                <a:latin typeface="Calibri" panose="020F0502020204030204" pitchFamily="34" charset="0"/>
              </a:rPr>
              <a:t>Often takes longer than other designs to implement</a:t>
            </a:r>
          </a:p>
          <a:p>
            <a:pPr marL="285750" indent="-285750" algn="l">
              <a:buFont typeface="Wingdings" panose="05000000000000000000" pitchFamily="2" charset="2"/>
              <a:buChar char="Ø"/>
            </a:pPr>
            <a:r>
              <a:rPr lang="en-US" sz="1800" b="0" i="0" u="none" strike="noStrike" baseline="0" dirty="0">
                <a:latin typeface="Calibri" panose="020F0502020204030204" pitchFamily="34" charset="0"/>
              </a:rPr>
              <a:t>Control data must be collected or ascertained from sites or participants=more measurement required</a:t>
            </a:r>
          </a:p>
          <a:p>
            <a:pPr marL="285750" indent="-285750" algn="l">
              <a:buFont typeface="Wingdings" panose="05000000000000000000" pitchFamily="2" charset="2"/>
              <a:buChar char="Ø"/>
            </a:pPr>
            <a:r>
              <a:rPr lang="en-US" sz="1800" b="0" i="0" u="none" strike="noStrike" baseline="0" dirty="0">
                <a:latin typeface="Calibri" panose="020F0502020204030204" pitchFamily="34" charset="0"/>
              </a:rPr>
              <a:t>Site differences and implementation processes can vary significantly overtime</a:t>
            </a:r>
          </a:p>
          <a:p>
            <a:pPr marL="285750" indent="-285750" algn="l">
              <a:buFont typeface="Wingdings" panose="05000000000000000000" pitchFamily="2" charset="2"/>
              <a:buChar char="Ø"/>
            </a:pPr>
            <a:r>
              <a:rPr lang="en-US" sz="1800" b="0" i="0" u="none" strike="noStrike" baseline="0" dirty="0">
                <a:latin typeface="Calibri" panose="020F0502020204030204" pitchFamily="34" charset="0"/>
              </a:rPr>
              <a:t>Risk of contamination in later sites or intervention fatigue—both can washout potential intervention effects</a:t>
            </a:r>
          </a:p>
          <a:p>
            <a:pPr marL="285750" indent="-285750" algn="l">
              <a:buFont typeface="Wingdings" panose="05000000000000000000" pitchFamily="2" charset="2"/>
              <a:buChar char="Ø"/>
            </a:pPr>
            <a:r>
              <a:rPr lang="en-US" sz="1800" b="0" i="0" u="none" strike="noStrike" baseline="0" dirty="0">
                <a:latin typeface="Calibri" panose="020F0502020204030204" pitchFamily="34" charset="0"/>
              </a:rPr>
              <a:t>Sites may not be willing/able to implement when assigned, thereby potentially jeopardizing internal validity.</a:t>
            </a:r>
            <a:endParaRPr lang="en-US" sz="1800" b="1" i="0" u="none" strike="noStrike" baseline="0" dirty="0">
              <a:solidFill>
                <a:srgbClr val="052049"/>
              </a:solidFill>
              <a:latin typeface="CIDFont+F2"/>
            </a:endParaRPr>
          </a:p>
          <a:p>
            <a:pPr algn="l"/>
            <a:endParaRPr lang="en-US" sz="1800" b="1" i="0" u="none" strike="noStrike" baseline="0" dirty="0">
              <a:solidFill>
                <a:srgbClr val="052049"/>
              </a:solidFill>
              <a:latin typeface="CIDFont+F2"/>
            </a:endParaRPr>
          </a:p>
          <a:p>
            <a:pPr algn="l"/>
            <a:endParaRPr lang="en-US" sz="1800" b="1" i="0" u="none" strike="noStrike" baseline="0" dirty="0">
              <a:solidFill>
                <a:srgbClr val="052049"/>
              </a:solidFill>
              <a:latin typeface="CIDFont+F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t>GEE or mixed models, both accounting for clustering of observations within a group and secular trends (calendar time)</a:t>
            </a:r>
            <a:endParaRPr lang="en-US" sz="1800" b="1" i="0" u="none" strike="noStrike" baseline="0" dirty="0">
              <a:solidFill>
                <a:srgbClr val="052049"/>
              </a:solidFill>
              <a:latin typeface="CIDFont+F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&gt; GEE enables us to understand the </a:t>
            </a:r>
            <a:r>
              <a:rPr lang="en-US" sz="1800" u="sng"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average effect across the population </a:t>
            </a:r>
            <a:r>
              <a:rPr lang="en-US"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whereas Mixed Effects models enable us to </a:t>
            </a:r>
            <a:r>
              <a:rPr lang="en-US" sz="1800" u="sng"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explore the response of individual participants (and take into account random effects)</a:t>
            </a:r>
            <a:endParaRPr lang="en-US" sz="1800" u="sng" dirty="0">
              <a:effectLst/>
              <a:latin typeface="Calibri" panose="020F0502020204030204" pitchFamily="34" charset="0"/>
              <a:ea typeface="Calibri" panose="020F0502020204030204" pitchFamily="34" charset="0"/>
              <a:cs typeface="Times New Roman" panose="02020603050405020304" pitchFamily="18" charset="0"/>
            </a:endParaRPr>
          </a:p>
          <a:p>
            <a:pPr algn="l"/>
            <a:endParaRPr lang="en-US" sz="1800" b="0" i="0" u="none" strike="noStrike" baseline="0" dirty="0">
              <a:solidFill>
                <a:srgbClr val="052049"/>
              </a:solidFill>
              <a:latin typeface="CIDFont+F2"/>
            </a:endParaRPr>
          </a:p>
          <a:p>
            <a:pPr algn="l"/>
            <a:endParaRPr lang="en-US" sz="1800" b="0" i="0" u="none" strike="noStrike" baseline="0" dirty="0">
              <a:solidFill>
                <a:srgbClr val="052049"/>
              </a:solidFill>
              <a:latin typeface="CIDFont+F2"/>
            </a:endParaRPr>
          </a:p>
          <a:p>
            <a:pPr algn="l"/>
            <a:r>
              <a:rPr lang="en-US" sz="1800" b="1" i="0" u="none" strike="noStrike" baseline="0" dirty="0">
                <a:solidFill>
                  <a:srgbClr val="052049"/>
                </a:solidFill>
                <a:latin typeface="CIDFont+F2"/>
              </a:rPr>
              <a:t>SWD are attractive, but very difficult to do right.</a:t>
            </a:r>
          </a:p>
          <a:p>
            <a:pPr algn="l"/>
            <a:endParaRPr lang="en-US" sz="1800" b="0" i="0" u="none" strike="noStrike" baseline="0" dirty="0">
              <a:solidFill>
                <a:srgbClr val="052049"/>
              </a:solidFill>
              <a:latin typeface="CIDFont+F2"/>
            </a:endParaRPr>
          </a:p>
        </p:txBody>
      </p:sp>
      <p:sp>
        <p:nvSpPr>
          <p:cNvPr id="4" name="Slide Number Placeholder 3"/>
          <p:cNvSpPr>
            <a:spLocks noGrp="1"/>
          </p:cNvSpPr>
          <p:nvPr>
            <p:ph type="sldNum" sz="quarter" idx="5"/>
          </p:nvPr>
        </p:nvSpPr>
        <p:spPr/>
        <p:txBody>
          <a:bodyPr/>
          <a:lstStyle/>
          <a:p>
            <a:fld id="{57513A7F-ED43-4CC5-9607-D648E698D27A}" type="slidenum">
              <a:rPr lang="en-US" smtClean="0"/>
              <a:t>12</a:t>
            </a:fld>
            <a:endParaRPr lang="en-US"/>
          </a:p>
        </p:txBody>
      </p:sp>
    </p:spTree>
    <p:extLst>
      <p:ext uri="{BB962C8B-B14F-4D97-AF65-F5344CB8AC3E}">
        <p14:creationId xmlns:p14="http://schemas.microsoft.com/office/powerpoint/2010/main" val="1141291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513A7F-ED43-4CC5-9607-D648E698D27A}" type="slidenum">
              <a:rPr lang="en-US" smtClean="0"/>
              <a:t>13</a:t>
            </a:fld>
            <a:endParaRPr lang="en-US"/>
          </a:p>
        </p:txBody>
      </p:sp>
    </p:spTree>
    <p:extLst>
      <p:ext uri="{BB962C8B-B14F-4D97-AF65-F5344CB8AC3E}">
        <p14:creationId xmlns:p14="http://schemas.microsoft.com/office/powerpoint/2010/main" val="3531057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Traditionally, intervention packages are developed and tested through randomized trials, often with limited prior information.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successful or failed outcome doesn't reveal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which components were responsible, and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whether including more components significantly improves the outcome (cost-effectiveness).</a:t>
            </a:r>
          </a:p>
          <a:p>
            <a:r>
              <a:rPr lang="en-US" dirty="0"/>
              <a:t> </a:t>
            </a:r>
          </a:p>
        </p:txBody>
      </p:sp>
      <p:sp>
        <p:nvSpPr>
          <p:cNvPr id="4" name="Slide Number Placeholder 3"/>
          <p:cNvSpPr>
            <a:spLocks noGrp="1"/>
          </p:cNvSpPr>
          <p:nvPr>
            <p:ph type="sldNum" sz="quarter" idx="5"/>
          </p:nvPr>
        </p:nvSpPr>
        <p:spPr/>
        <p:txBody>
          <a:bodyPr/>
          <a:lstStyle/>
          <a:p>
            <a:fld id="{57513A7F-ED43-4CC5-9607-D648E698D27A}" type="slidenum">
              <a:rPr lang="en-US" smtClean="0"/>
              <a:t>14</a:t>
            </a:fld>
            <a:endParaRPr lang="en-US"/>
          </a:p>
        </p:txBody>
      </p:sp>
    </p:spTree>
    <p:extLst>
      <p:ext uri="{BB962C8B-B14F-4D97-AF65-F5344CB8AC3E}">
        <p14:creationId xmlns:p14="http://schemas.microsoft.com/office/powerpoint/2010/main" val="30682649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is the multiphase optimization strategy. </a:t>
            </a:r>
          </a:p>
          <a:p>
            <a:r>
              <a:rPr lang="en-US" dirty="0"/>
              <a:t>It includes three phases, with a key difference in Phase 2-the optimization phase. </a:t>
            </a:r>
          </a:p>
          <a:p>
            <a:r>
              <a:rPr lang="en-US" dirty="0"/>
              <a:t>This phase aims to determine:</a:t>
            </a:r>
          </a:p>
          <a:p>
            <a:pPr marL="171450" indent="-171450">
              <a:buFont typeface="Arial" panose="020B0604020202020204" pitchFamily="34" charset="0"/>
              <a:buChar char="•"/>
            </a:pPr>
            <a:r>
              <a:rPr lang="en-US" dirty="0"/>
              <a:t>Which implementation strategies are most cost-effective</a:t>
            </a:r>
            <a:endParaRPr lang="en-US" b="1" dirty="0"/>
          </a:p>
          <a:p>
            <a:pPr marL="171450" indent="-171450">
              <a:buFont typeface="Arial" panose="020B0604020202020204" pitchFamily="34" charset="0"/>
              <a:buChar char="•"/>
            </a:pPr>
            <a:r>
              <a:rPr lang="en-US" dirty="0"/>
              <a:t>What is the most effective set of components, given implementation budget or constraints? </a:t>
            </a:r>
          </a:p>
          <a:p>
            <a:pPr marL="171450" indent="-171450">
              <a:buFont typeface="Arial" panose="020B0604020202020204" pitchFamily="34" charset="0"/>
              <a:buChar char="•"/>
            </a:pPr>
            <a:r>
              <a:rPr lang="en-US" dirty="0"/>
              <a:t>Which components should be deleted to make the intervention more cost-effective?</a:t>
            </a:r>
          </a:p>
          <a:p>
            <a:r>
              <a:rPr lang="en-US" b="0" dirty="0"/>
              <a:t>--</a:t>
            </a:r>
          </a:p>
          <a:p>
            <a:r>
              <a:rPr lang="en-US" sz="1200" kern="1200" dirty="0">
                <a:solidFill>
                  <a:schemeClr val="tx1"/>
                </a:solidFill>
                <a:latin typeface="+mn-lt"/>
                <a:ea typeface="+mn-ea"/>
                <a:cs typeface="+mn-cs"/>
              </a:rPr>
              <a:t>There are multiple ways (trials) to optimize. I will go briefly two common ones in the next two slides.   </a:t>
            </a:r>
          </a:p>
          <a:p>
            <a:pPr marL="0" indent="0">
              <a:buFont typeface="Wingdings" panose="05000000000000000000" pitchFamily="2" charset="2"/>
              <a:buNone/>
            </a:pPr>
            <a:endParaRPr lang="en-US" dirty="0"/>
          </a:p>
        </p:txBody>
      </p:sp>
      <p:sp>
        <p:nvSpPr>
          <p:cNvPr id="4" name="Slide Number Placeholder 3"/>
          <p:cNvSpPr>
            <a:spLocks noGrp="1"/>
          </p:cNvSpPr>
          <p:nvPr>
            <p:ph type="sldNum" sz="quarter" idx="5"/>
          </p:nvPr>
        </p:nvSpPr>
        <p:spPr/>
        <p:txBody>
          <a:bodyPr/>
          <a:lstStyle/>
          <a:p>
            <a:fld id="{CD166A22-B070-48AD-A6FF-4999BCE6E22A}" type="slidenum">
              <a:rPr lang="en-US" smtClean="0"/>
              <a:t>15</a:t>
            </a:fld>
            <a:endParaRPr lang="en-US"/>
          </a:p>
        </p:txBody>
      </p:sp>
    </p:spTree>
    <p:extLst>
      <p:ext uri="{BB962C8B-B14F-4D97-AF65-F5344CB8AC3E}">
        <p14:creationId xmlns:p14="http://schemas.microsoft.com/office/powerpoint/2010/main" val="4190140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dirty="0"/>
              <a:t>A factorial experiment is an experimental design where the effects of two or more factors (intervention components) are examined simultaneously. This design allows for the evaluation of both the individual effects of each factor and their combined impact on the outcome.</a:t>
            </a:r>
          </a:p>
          <a:p>
            <a:r>
              <a:rPr lang="en-US" sz="2800" dirty="0">
                <a:effectLst/>
                <a:latin typeface="Calibri" panose="020F0502020204030204" pitchFamily="34"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800" dirty="0"/>
              <a:t>Here is a study using fractional factorial experiment design to assess the effectiveness of 6 smoking cessation interventions, aiming to answer the following questions:</a:t>
            </a:r>
          </a:p>
          <a:p>
            <a:pPr>
              <a:buFont typeface="Arial" panose="020B0604020202020204" pitchFamily="34" charset="0"/>
              <a:buChar char="•"/>
            </a:pPr>
            <a:r>
              <a:rPr lang="en-US" sz="2800" dirty="0"/>
              <a:t>Which of the five interventions are significantly associated with increased self-efficacy to quit smoking?</a:t>
            </a:r>
          </a:p>
          <a:p>
            <a:pPr>
              <a:buFont typeface="Arial" panose="020B0604020202020204" pitchFamily="34" charset="0"/>
              <a:buChar char="•"/>
            </a:pPr>
            <a:r>
              <a:rPr lang="en-US" sz="2800" dirty="0"/>
              <a:t>Which set of interventions should be recommended?</a:t>
            </a:r>
          </a:p>
          <a:p>
            <a:endParaRPr lang="en-US" dirty="0"/>
          </a:p>
        </p:txBody>
      </p:sp>
      <p:sp>
        <p:nvSpPr>
          <p:cNvPr id="4" name="Slide Number Placeholder 3"/>
          <p:cNvSpPr>
            <a:spLocks noGrp="1"/>
          </p:cNvSpPr>
          <p:nvPr>
            <p:ph type="sldNum" sz="quarter" idx="5"/>
          </p:nvPr>
        </p:nvSpPr>
        <p:spPr/>
        <p:txBody>
          <a:bodyPr/>
          <a:lstStyle/>
          <a:p>
            <a:fld id="{57513A7F-ED43-4CC5-9607-D648E698D27A}" type="slidenum">
              <a:rPr lang="en-US" smtClean="0"/>
              <a:t>16</a:t>
            </a:fld>
            <a:endParaRPr lang="en-US"/>
          </a:p>
        </p:txBody>
      </p:sp>
    </p:spTree>
    <p:extLst>
      <p:ext uri="{BB962C8B-B14F-4D97-AF65-F5344CB8AC3E}">
        <p14:creationId xmlns:p14="http://schemas.microsoft.com/office/powerpoint/2010/main" val="20228238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design is another commonly used approach to optimize study interventions.</a:t>
            </a:r>
          </a:p>
          <a:p>
            <a:r>
              <a:rPr lang="en-US" dirty="0"/>
              <a:t>Here is an example from the lecture about responses to mental health 911 calls. </a:t>
            </a:r>
          </a:p>
          <a:p>
            <a:r>
              <a:rPr lang="en-US" dirty="0"/>
              <a:t>There are two phases of response, with the second one depending on the outcome of the first.</a:t>
            </a:r>
          </a:p>
          <a:p>
            <a:r>
              <a:rPr lang="en-US" dirty="0"/>
              <a:t>--</a:t>
            </a:r>
          </a:p>
          <a:p>
            <a:r>
              <a:rPr lang="en-US" dirty="0"/>
              <a:t>When patients called 911, they were randomized to either [a police visit] or [a crisis response team visit]. </a:t>
            </a:r>
          </a:p>
          <a:p>
            <a:r>
              <a:rPr lang="en-US" dirty="0"/>
              <a:t>Among these patients, some visited the ER within 7 days while others did not. </a:t>
            </a:r>
          </a:p>
          <a:p>
            <a:pPr marL="171450" indent="-171450">
              <a:buFontTx/>
              <a:buChar char="-"/>
            </a:pPr>
            <a:r>
              <a:rPr lang="en-US" dirty="0"/>
              <a:t>Those who did not visit the ER received no outreach. </a:t>
            </a:r>
          </a:p>
          <a:p>
            <a:pPr marL="171450" indent="-171450">
              <a:buFontTx/>
              <a:buChar char="-"/>
            </a:pPr>
            <a:r>
              <a:rPr lang="en-US" dirty="0"/>
              <a:t>Those who visited the ER were further randomized to receive either outreach or no outreach. </a:t>
            </a:r>
          </a:p>
          <a:p>
            <a:pPr marL="0" indent="0">
              <a:buFontTx/>
              <a:buNone/>
            </a:pPr>
            <a:r>
              <a:rPr lang="en-US" dirty="0"/>
              <a:t>All participants were evaluated based on their ER visit within 30 days.</a:t>
            </a:r>
          </a:p>
          <a:p>
            <a:pPr marL="0" indent="0">
              <a:buFontTx/>
              <a:buNone/>
            </a:pPr>
            <a:r>
              <a:rPr lang="en-US" dirty="0"/>
              <a:t>--</a:t>
            </a:r>
          </a:p>
          <a:p>
            <a:pPr marL="0" indent="0">
              <a:buFontTx/>
              <a:buNone/>
            </a:pPr>
            <a:r>
              <a:rPr lang="en-US" dirty="0"/>
              <a:t>This kind of study design allows to answer questions:</a:t>
            </a:r>
          </a:p>
          <a:p>
            <a:pPr marL="228600" indent="-228600">
              <a:buAutoNum type="arabicPeriod"/>
            </a:pPr>
            <a:r>
              <a:rPr lang="en-US" dirty="0"/>
              <a:t>What is best initial response to mental health 911 calls? Police vs CRT?</a:t>
            </a:r>
          </a:p>
          <a:p>
            <a:pPr marL="228600" indent="-228600">
              <a:buAutoNum type="arabicPeriod"/>
            </a:pPr>
            <a:r>
              <a:rPr lang="en-US" dirty="0"/>
              <a:t>What is the best response for individuals who have ER visits within 7 days? Outreach vs no outreach?</a:t>
            </a:r>
          </a:p>
          <a:p>
            <a:pPr marL="228600" indent="-228600">
              <a:buAutoNum type="arabicPeriod"/>
            </a:pPr>
            <a:r>
              <a:rPr lang="en-US" dirty="0"/>
              <a:t>What is the best strategy in response to mental health 911 calls? </a:t>
            </a:r>
          </a:p>
          <a:p>
            <a:pPr marL="0" indent="0">
              <a:buNone/>
            </a:pPr>
            <a:r>
              <a:rPr lang="en-US" dirty="0"/>
              <a:t>Compare 4 strategies: (a) Police, (b) Police + outreach, (c) CRT, (d) CRT + outreach </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57513A7F-ED43-4CC5-9607-D648E698D27A}" type="slidenum">
              <a:rPr lang="en-US" smtClean="0"/>
              <a:t>17</a:t>
            </a:fld>
            <a:endParaRPr lang="en-US"/>
          </a:p>
        </p:txBody>
      </p:sp>
    </p:spTree>
    <p:extLst>
      <p:ext uri="{BB962C8B-B14F-4D97-AF65-F5344CB8AC3E}">
        <p14:creationId xmlns:p14="http://schemas.microsoft.com/office/powerpoint/2010/main" val="18972623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0" i="0" u="none" strike="noStrike" baseline="0" dirty="0">
                <a:solidFill>
                  <a:srgbClr val="052049"/>
                </a:solidFill>
                <a:latin typeface="Garamond" panose="02020404030301010803" pitchFamily="18" charset="0"/>
              </a:rPr>
              <a:t>Preference designs are an alternative clinical trial design that can be used to evaluate </a:t>
            </a:r>
            <a:r>
              <a:rPr lang="en-US" sz="1200" b="1" i="0" u="none" strike="noStrike" baseline="0" dirty="0">
                <a:solidFill>
                  <a:srgbClr val="052049"/>
                </a:solidFill>
                <a:latin typeface="Garamond" panose="02020404030301010803" pitchFamily="18" charset="0"/>
              </a:rPr>
              <a:t>how patient preferences for a certain treatment </a:t>
            </a:r>
            <a:r>
              <a:rPr lang="en-US" sz="1200" b="0" i="0" u="none" strike="noStrike" baseline="0" dirty="0">
                <a:solidFill>
                  <a:srgbClr val="052049"/>
                </a:solidFill>
                <a:latin typeface="Garamond" panose="02020404030301010803" pitchFamily="18" charset="0"/>
              </a:rPr>
              <a:t>may influence an outcome.</a:t>
            </a:r>
          </a:p>
          <a:p>
            <a:pPr algn="l"/>
            <a:endParaRPr lang="en-US" sz="1200" b="0" i="0" u="none" strike="noStrike" baseline="0" dirty="0">
              <a:solidFill>
                <a:srgbClr val="052049"/>
              </a:solidFill>
              <a:latin typeface="Garamond" panose="02020404030301010803" pitchFamily="18" charset="0"/>
            </a:endParaRPr>
          </a:p>
          <a:p>
            <a:pPr algn="l"/>
            <a:r>
              <a:rPr lang="en-US" sz="1200" b="1" i="0" u="none" strike="noStrike" baseline="0" dirty="0">
                <a:solidFill>
                  <a:srgbClr val="052049"/>
                </a:solidFill>
                <a:latin typeface="Garamond" panose="02020404030301010803" pitchFamily="18" charset="0"/>
              </a:rPr>
              <a:t>There are two general approaches to preference designs:</a:t>
            </a:r>
          </a:p>
          <a:p>
            <a:pPr algn="l"/>
            <a:r>
              <a:rPr lang="en-US" sz="1200" b="0" i="0" u="none" strike="noStrike" baseline="0" dirty="0">
                <a:solidFill>
                  <a:srgbClr val="052049"/>
                </a:solidFill>
                <a:latin typeface="Garamond" panose="02020404030301010803" pitchFamily="18" charset="0"/>
              </a:rPr>
              <a:t>1. Partially randomized patient preference intervention trial, </a:t>
            </a:r>
            <a:r>
              <a:rPr lang="en-US" sz="1200" b="1" i="0" u="none" strike="noStrike" baseline="0" dirty="0">
                <a:solidFill>
                  <a:srgbClr val="052049"/>
                </a:solidFill>
                <a:latin typeface="Garamond" panose="02020404030301010803" pitchFamily="18" charset="0"/>
              </a:rPr>
              <a:t>with a preference arm at outset- </a:t>
            </a:r>
            <a:r>
              <a:rPr lang="en-US" sz="1200" b="0" i="0" u="none" strike="noStrike" baseline="0" dirty="0">
                <a:solidFill>
                  <a:srgbClr val="052049"/>
                </a:solidFill>
                <a:latin typeface="Garamond" panose="02020404030301010803" pitchFamily="18" charset="0"/>
              </a:rPr>
              <a:t>T0 (partially randomized patient preference trials)</a:t>
            </a:r>
          </a:p>
          <a:p>
            <a:pPr algn="l"/>
            <a:r>
              <a:rPr lang="en-US" sz="1200" b="0" i="0" u="none" strike="noStrike" baseline="0" dirty="0">
                <a:solidFill>
                  <a:srgbClr val="052049"/>
                </a:solidFill>
                <a:latin typeface="Garamond" panose="02020404030301010803" pitchFamily="18" charset="0"/>
              </a:rPr>
              <a:t>2. Two-stage patient preference intervention trial, </a:t>
            </a:r>
            <a:r>
              <a:rPr lang="en-US" sz="1200" b="1" i="0" u="none" strike="noStrike" baseline="0" dirty="0">
                <a:solidFill>
                  <a:srgbClr val="052049"/>
                </a:solidFill>
                <a:latin typeface="Garamond" panose="02020404030301010803" pitchFamily="18" charset="0"/>
              </a:rPr>
              <a:t>with randomized preference arm at T1</a:t>
            </a:r>
            <a:endParaRPr lang="en-US" b="1" dirty="0"/>
          </a:p>
          <a:p>
            <a:endParaRPr lang="en-US" dirty="0"/>
          </a:p>
        </p:txBody>
      </p:sp>
      <p:sp>
        <p:nvSpPr>
          <p:cNvPr id="4" name="Slide Number Placeholder 3"/>
          <p:cNvSpPr>
            <a:spLocks noGrp="1"/>
          </p:cNvSpPr>
          <p:nvPr>
            <p:ph type="sldNum" sz="quarter" idx="5"/>
          </p:nvPr>
        </p:nvSpPr>
        <p:spPr/>
        <p:txBody>
          <a:bodyPr/>
          <a:lstStyle/>
          <a:p>
            <a:fld id="{57513A7F-ED43-4CC5-9607-D648E698D27A}" type="slidenum">
              <a:rPr lang="en-US" smtClean="0"/>
              <a:t>18</a:t>
            </a:fld>
            <a:endParaRPr lang="en-US"/>
          </a:p>
        </p:txBody>
      </p:sp>
    </p:spTree>
    <p:extLst>
      <p:ext uri="{BB962C8B-B14F-4D97-AF65-F5344CB8AC3E}">
        <p14:creationId xmlns:p14="http://schemas.microsoft.com/office/powerpoint/2010/main" val="27137064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figures of the same design = a </a:t>
            </a:r>
            <a:r>
              <a:rPr lang="en-US" b="1" dirty="0"/>
              <a:t>partially randomized </a:t>
            </a:r>
            <a:r>
              <a:rPr lang="en-US" dirty="0"/>
              <a:t>patient preference trial.</a:t>
            </a:r>
          </a:p>
          <a:p>
            <a:pPr algn="l"/>
            <a:endParaRPr lang="en-US" sz="1800" b="0" i="0" u="none" strike="noStrike" baseline="0" dirty="0">
              <a:solidFill>
                <a:srgbClr val="052049"/>
              </a:solidFill>
              <a:latin typeface="Garamond" panose="02020404030301010803" pitchFamily="18" charset="0"/>
            </a:endParaRPr>
          </a:p>
          <a:p>
            <a:pPr algn="l"/>
            <a:endParaRPr lang="en-US" sz="1800" b="0" i="0" u="none" strike="noStrike" baseline="0" dirty="0">
              <a:solidFill>
                <a:srgbClr val="052049"/>
              </a:solidFill>
              <a:latin typeface="Garamond" panose="02020404030301010803" pitchFamily="18" charset="0"/>
            </a:endParaRPr>
          </a:p>
          <a:p>
            <a:pPr algn="l"/>
            <a:r>
              <a:rPr lang="en-US" sz="1800" b="0" i="0" u="none" strike="noStrike" baseline="0" dirty="0">
                <a:solidFill>
                  <a:srgbClr val="052049"/>
                </a:solidFill>
                <a:latin typeface="Garamond" panose="02020404030301010803" pitchFamily="18" charset="0"/>
              </a:rPr>
              <a:t>&gt;Requires 2 or more interventions/treatments that are considered similar in their impact on outcomes.</a:t>
            </a:r>
          </a:p>
          <a:p>
            <a:pPr algn="l"/>
            <a:endParaRPr lang="en-US" sz="1800" b="0" i="0" u="none" strike="noStrike" baseline="0" dirty="0">
              <a:solidFill>
                <a:srgbClr val="052049"/>
              </a:solidFill>
              <a:latin typeface="Garamond" panose="02020404030301010803" pitchFamily="18" charset="0"/>
            </a:endParaRPr>
          </a:p>
          <a:p>
            <a:pPr algn="l"/>
            <a:r>
              <a:rPr lang="en-US" sz="1800" b="0" i="0" u="none" strike="noStrike" baseline="0" dirty="0">
                <a:solidFill>
                  <a:srgbClr val="052049"/>
                </a:solidFill>
                <a:latin typeface="ArialMT"/>
              </a:rPr>
              <a:t>&gt;</a:t>
            </a:r>
            <a:r>
              <a:rPr lang="en-US" sz="1800" b="0" i="0" u="none" strike="noStrike" baseline="0" dirty="0">
                <a:solidFill>
                  <a:srgbClr val="052049"/>
                </a:solidFill>
                <a:latin typeface="Garamond" panose="02020404030301010803" pitchFamily="18" charset="0"/>
              </a:rPr>
              <a:t>Pts. </a:t>
            </a:r>
            <a:r>
              <a:rPr lang="en-US" sz="1800" b="0" i="0" u="sng" strike="noStrike" baseline="0" dirty="0">
                <a:solidFill>
                  <a:srgbClr val="052049"/>
                </a:solidFill>
                <a:latin typeface="Garamond" panose="02020404030301010803" pitchFamily="18" charset="0"/>
              </a:rPr>
              <a:t>with strong preferences </a:t>
            </a:r>
            <a:r>
              <a:rPr lang="en-US" sz="1800" b="0" i="0" u="none" strike="noStrike" baseline="0" dirty="0">
                <a:solidFill>
                  <a:srgbClr val="052049"/>
                </a:solidFill>
                <a:latin typeface="Garamond" panose="02020404030301010803" pitchFamily="18" charset="0"/>
              </a:rPr>
              <a:t>are </a:t>
            </a:r>
            <a:r>
              <a:rPr lang="en-US" sz="1800" b="1" i="0" u="none" strike="noStrike" baseline="0" dirty="0">
                <a:solidFill>
                  <a:srgbClr val="FF0000"/>
                </a:solidFill>
                <a:latin typeface="Garamond-Bold"/>
              </a:rPr>
              <a:t>given their choice </a:t>
            </a:r>
            <a:r>
              <a:rPr lang="en-US" sz="1800" b="0" i="0" u="none" strike="noStrike" baseline="0" dirty="0">
                <a:solidFill>
                  <a:srgbClr val="052049"/>
                </a:solidFill>
                <a:latin typeface="Garamond" panose="02020404030301010803" pitchFamily="18" charset="0"/>
              </a:rPr>
              <a:t>and those </a:t>
            </a:r>
            <a:r>
              <a:rPr lang="en-US" sz="1800" b="0" i="0" u="sng" strike="noStrike" baseline="0" dirty="0">
                <a:solidFill>
                  <a:srgbClr val="052049"/>
                </a:solidFill>
                <a:latin typeface="Garamond" panose="02020404030301010803" pitchFamily="18" charset="0"/>
              </a:rPr>
              <a:t>w/o strong preferences </a:t>
            </a:r>
            <a:r>
              <a:rPr lang="en-US" sz="1800" b="0" i="0" u="none" strike="noStrike" baseline="0" dirty="0">
                <a:solidFill>
                  <a:srgbClr val="052049"/>
                </a:solidFill>
                <a:latin typeface="Garamond" panose="02020404030301010803" pitchFamily="18" charset="0"/>
              </a:rPr>
              <a:t>are</a:t>
            </a:r>
          </a:p>
          <a:p>
            <a:pPr algn="l"/>
            <a:r>
              <a:rPr lang="en-US" sz="1800" b="0" i="0" u="none" strike="noStrike" baseline="0" dirty="0">
                <a:solidFill>
                  <a:srgbClr val="052049"/>
                </a:solidFill>
                <a:latin typeface="Garamond" panose="02020404030301010803" pitchFamily="18" charset="0"/>
              </a:rPr>
              <a:t>randomized to one of the 2 treatments.</a:t>
            </a:r>
          </a:p>
          <a:p>
            <a:pPr algn="l"/>
            <a:endParaRPr lang="en-US" sz="1800" b="0" i="0" u="none" strike="noStrike" baseline="0" dirty="0">
              <a:solidFill>
                <a:srgbClr val="052049"/>
              </a:solidFill>
              <a:latin typeface="Garamond" panose="02020404030301010803" pitchFamily="18" charset="0"/>
            </a:endParaRPr>
          </a:p>
          <a:p>
            <a:pPr algn="l"/>
            <a:r>
              <a:rPr lang="en-US" sz="1800" b="0" i="0" u="none" strike="noStrike" baseline="0" dirty="0">
                <a:solidFill>
                  <a:srgbClr val="052049"/>
                </a:solidFill>
                <a:latin typeface="Garamond" panose="02020404030301010803" pitchFamily="18" charset="0"/>
              </a:rPr>
              <a:t>&gt;This design can increase overall participation rates and improve external validity</a:t>
            </a:r>
          </a:p>
          <a:p>
            <a:pPr algn="l"/>
            <a:endParaRPr lang="en-US" sz="1800" b="0" i="0" u="none" strike="noStrike" baseline="0" dirty="0">
              <a:solidFill>
                <a:srgbClr val="052049"/>
              </a:solidFill>
              <a:latin typeface="Garamond" panose="02020404030301010803" pitchFamily="18" charset="0"/>
            </a:endParaRPr>
          </a:p>
          <a:p>
            <a:pPr algn="l"/>
            <a:r>
              <a:rPr lang="en-US" sz="1800" b="0" i="0" u="none" strike="noStrike" baseline="0" dirty="0">
                <a:solidFill>
                  <a:srgbClr val="052049"/>
                </a:solidFill>
                <a:latin typeface="ArialMT"/>
              </a:rPr>
              <a:t>&gt;</a:t>
            </a:r>
            <a:r>
              <a:rPr lang="en-US" sz="1800" b="0" i="0" u="none" strike="noStrike" baseline="0" dirty="0">
                <a:solidFill>
                  <a:srgbClr val="052049"/>
                </a:solidFill>
                <a:latin typeface="Garamond" panose="02020404030301010803" pitchFamily="18" charset="0"/>
              </a:rPr>
              <a:t>Randomization is at T0</a:t>
            </a:r>
          </a:p>
          <a:p>
            <a:pPr algn="l"/>
            <a:r>
              <a:rPr lang="en-US" sz="1800" b="0" i="0" u="none" strike="noStrike" baseline="0" dirty="0">
                <a:solidFill>
                  <a:srgbClr val="052049"/>
                </a:solidFill>
                <a:latin typeface="Garamond" panose="02020404030301010803" pitchFamily="18" charset="0"/>
              </a:rPr>
              <a:t>…and may lead to greater adherence and subjective outcomes, when preferences are satisfied, improving internal validity</a:t>
            </a:r>
            <a:endParaRPr lang="en-US" dirty="0"/>
          </a:p>
        </p:txBody>
      </p:sp>
      <p:sp>
        <p:nvSpPr>
          <p:cNvPr id="4" name="Slide Number Placeholder 3"/>
          <p:cNvSpPr>
            <a:spLocks noGrp="1"/>
          </p:cNvSpPr>
          <p:nvPr>
            <p:ph type="sldNum" sz="quarter" idx="5"/>
          </p:nvPr>
        </p:nvSpPr>
        <p:spPr/>
        <p:txBody>
          <a:bodyPr/>
          <a:lstStyle/>
          <a:p>
            <a:fld id="{57513A7F-ED43-4CC5-9607-D648E698D27A}" type="slidenum">
              <a:rPr lang="en-US" smtClean="0"/>
              <a:t>19</a:t>
            </a:fld>
            <a:endParaRPr lang="en-US"/>
          </a:p>
        </p:txBody>
      </p:sp>
    </p:spTree>
    <p:extLst>
      <p:ext uri="{BB962C8B-B14F-4D97-AF65-F5344CB8AC3E}">
        <p14:creationId xmlns:p14="http://schemas.microsoft.com/office/powerpoint/2010/main" val="3102960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Example of an RPPT</a:t>
            </a:r>
          </a:p>
        </p:txBody>
      </p:sp>
      <p:sp>
        <p:nvSpPr>
          <p:cNvPr id="4" name="Slide Number Placeholder 3"/>
          <p:cNvSpPr>
            <a:spLocks noGrp="1"/>
          </p:cNvSpPr>
          <p:nvPr>
            <p:ph type="sldNum" sz="quarter" idx="5"/>
          </p:nvPr>
        </p:nvSpPr>
        <p:spPr/>
        <p:txBody>
          <a:bodyPr/>
          <a:lstStyle/>
          <a:p>
            <a:fld id="{57513A7F-ED43-4CC5-9607-D648E698D27A}" type="slidenum">
              <a:rPr lang="en-US" smtClean="0"/>
              <a:t>20</a:t>
            </a:fld>
            <a:endParaRPr lang="en-US"/>
          </a:p>
        </p:txBody>
      </p:sp>
    </p:spTree>
    <p:extLst>
      <p:ext uri="{BB962C8B-B14F-4D97-AF65-F5344CB8AC3E}">
        <p14:creationId xmlns:p14="http://schemas.microsoft.com/office/powerpoint/2010/main" val="12161030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1" i="0" u="none" strike="noStrike" baseline="0" dirty="0">
                <a:solidFill>
                  <a:srgbClr val="052049"/>
                </a:solidFill>
                <a:latin typeface="Garamond" panose="02020404030301010803" pitchFamily="18" charset="0"/>
              </a:rPr>
              <a:t>This design is fully randomized </a:t>
            </a:r>
            <a:r>
              <a:rPr lang="en-US" sz="1800" b="0" i="0" u="sng" strike="noStrike" baseline="0" dirty="0">
                <a:solidFill>
                  <a:srgbClr val="052049"/>
                </a:solidFill>
                <a:latin typeface="Garamond" panose="02020404030301010803" pitchFamily="18" charset="0"/>
              </a:rPr>
              <a:t>and compares patients </a:t>
            </a:r>
            <a:r>
              <a:rPr lang="en-US" sz="1800" b="1" i="0" u="sng" strike="noStrike" baseline="0" dirty="0">
                <a:solidFill>
                  <a:srgbClr val="052049"/>
                </a:solidFill>
                <a:latin typeface="Garamond" panose="02020404030301010803" pitchFamily="18" charset="0"/>
              </a:rPr>
              <a:t>who do and do not </a:t>
            </a:r>
            <a:r>
              <a:rPr lang="en-US" sz="1800" b="0" i="0" u="sng" strike="noStrike" baseline="0" dirty="0">
                <a:solidFill>
                  <a:srgbClr val="052049"/>
                </a:solidFill>
                <a:latin typeface="Garamond" panose="02020404030301010803" pitchFamily="18" charset="0"/>
              </a:rPr>
              <a:t>receive their preferred treatment</a:t>
            </a:r>
            <a:r>
              <a:rPr lang="en-US" sz="1800" b="0" i="0" u="none" strike="noStrike" baseline="0" dirty="0">
                <a:solidFill>
                  <a:srgbClr val="052049"/>
                </a:solidFill>
                <a:latin typeface="Garamond" panose="02020404030301010803" pitchFamily="18" charset="0"/>
              </a:rPr>
              <a:t>.</a:t>
            </a:r>
          </a:p>
          <a:p>
            <a:pPr algn="l"/>
            <a:endParaRPr lang="en-US" sz="1800" b="0" i="0" u="none" strike="noStrike" baseline="0" dirty="0">
              <a:solidFill>
                <a:srgbClr val="052049"/>
              </a:solidFill>
              <a:latin typeface="Garamond" panose="02020404030301010803" pitchFamily="18" charset="0"/>
            </a:endParaRPr>
          </a:p>
          <a:p>
            <a:pPr algn="l"/>
            <a:r>
              <a:rPr lang="en-US" sz="1800" b="1" i="0" u="none" strike="noStrike" baseline="0" dirty="0">
                <a:solidFill>
                  <a:srgbClr val="052049"/>
                </a:solidFill>
                <a:latin typeface="Garamond" panose="02020404030301010803" pitchFamily="18" charset="0"/>
              </a:rPr>
              <a:t>These are the types of questions we can ask with a two-stage patient preference design:</a:t>
            </a:r>
          </a:p>
          <a:p>
            <a:pPr algn="l"/>
            <a:r>
              <a:rPr lang="en-US" sz="1800" b="0" i="0" u="none" strike="noStrike" baseline="0" dirty="0">
                <a:solidFill>
                  <a:srgbClr val="052049"/>
                </a:solidFill>
                <a:latin typeface="ArialMT"/>
              </a:rPr>
              <a:t>• </a:t>
            </a:r>
            <a:r>
              <a:rPr lang="en-US" sz="1800" b="0" i="0" u="none" strike="noStrike" baseline="0" dirty="0">
                <a:solidFill>
                  <a:srgbClr val="052049"/>
                </a:solidFill>
                <a:latin typeface="Garamond" panose="02020404030301010803" pitchFamily="18" charset="0"/>
              </a:rPr>
              <a:t>Is there a </a:t>
            </a:r>
            <a:r>
              <a:rPr lang="en-US" sz="1800" b="0" i="0" u="sng" strike="noStrike" baseline="0" dirty="0">
                <a:solidFill>
                  <a:srgbClr val="052049"/>
                </a:solidFill>
                <a:latin typeface="Garamond" panose="02020404030301010803" pitchFamily="18" charset="0"/>
              </a:rPr>
              <a:t>selection effect?</a:t>
            </a:r>
            <a:r>
              <a:rPr lang="en-US" sz="1800" b="0" i="0" u="none" strike="noStrike" baseline="0" dirty="0">
                <a:solidFill>
                  <a:srgbClr val="052049"/>
                </a:solidFill>
                <a:latin typeface="Garamond" panose="02020404030301010803" pitchFamily="18" charset="0"/>
              </a:rPr>
              <a:t>  In other words, is the effect of one selected treatment better than the other selected treatment (compare choice A vs choice B)? </a:t>
            </a:r>
          </a:p>
          <a:p>
            <a:pPr algn="l"/>
            <a:r>
              <a:rPr lang="en-US" sz="1800" b="0" i="0" u="none" strike="noStrike" baseline="0" dirty="0">
                <a:solidFill>
                  <a:srgbClr val="052049"/>
                </a:solidFill>
                <a:latin typeface="Garamond" panose="02020404030301010803" pitchFamily="18" charset="0"/>
              </a:rPr>
              <a:t>The </a:t>
            </a:r>
            <a:r>
              <a:rPr lang="en-US" sz="1800" b="0" i="1" u="none" strike="noStrike" baseline="0" dirty="0">
                <a:solidFill>
                  <a:srgbClr val="052049"/>
                </a:solidFill>
                <a:latin typeface="Garamond-Italic"/>
              </a:rPr>
              <a:t>selection effect </a:t>
            </a:r>
            <a:r>
              <a:rPr lang="en-US" sz="1800" b="0" i="0" u="none" strike="noStrike" baseline="0" dirty="0">
                <a:solidFill>
                  <a:srgbClr val="052049"/>
                </a:solidFill>
                <a:latin typeface="Garamond" panose="02020404030301010803" pitchFamily="18" charset="0"/>
              </a:rPr>
              <a:t>refers to the effect of a patient’s selection of his or her preferred treatment.</a:t>
            </a:r>
          </a:p>
          <a:p>
            <a:pPr algn="l"/>
            <a:endParaRPr lang="en-US" sz="1800" b="0" i="0" u="none" strike="noStrike" baseline="0" dirty="0">
              <a:solidFill>
                <a:srgbClr val="052049"/>
              </a:solidFill>
              <a:latin typeface="Garamond" panose="02020404030301010803" pitchFamily="18" charset="0"/>
            </a:endParaRPr>
          </a:p>
          <a:p>
            <a:pPr algn="l"/>
            <a:r>
              <a:rPr lang="en-US" sz="1800" b="0" i="0" u="none" strike="noStrike" baseline="0" dirty="0">
                <a:solidFill>
                  <a:srgbClr val="052049"/>
                </a:solidFill>
                <a:latin typeface="ArialMT"/>
              </a:rPr>
              <a:t>• Is there a </a:t>
            </a:r>
            <a:r>
              <a:rPr lang="en-US" sz="1800" b="0" i="0" u="sng" strike="noStrike" baseline="0" dirty="0">
                <a:solidFill>
                  <a:srgbClr val="052049"/>
                </a:solidFill>
                <a:latin typeface="ArialMT"/>
              </a:rPr>
              <a:t>preference</a:t>
            </a:r>
            <a:r>
              <a:rPr lang="en-US" sz="1800" b="0" i="0" u="none" strike="noStrike" baseline="0" dirty="0">
                <a:solidFill>
                  <a:srgbClr val="052049"/>
                </a:solidFill>
                <a:latin typeface="ArialMT"/>
              </a:rPr>
              <a:t> effect? </a:t>
            </a:r>
            <a:r>
              <a:rPr lang="en-US" sz="1800" b="0" i="0" u="none" strike="noStrike" baseline="0" dirty="0">
                <a:solidFill>
                  <a:srgbClr val="052049"/>
                </a:solidFill>
                <a:latin typeface="Garamond" panose="02020404030301010803" pitchFamily="18" charset="0"/>
              </a:rPr>
              <a:t>In other words,  compared to no choice (random), what is the effect of choice?  Compare outcomes between those who choose treatment A and those who were randomized to treatment A. </a:t>
            </a:r>
          </a:p>
          <a:p>
            <a:pPr algn="l"/>
            <a:endParaRPr lang="en-US" sz="1800" b="0" i="0" u="none" strike="noStrike" baseline="0" dirty="0">
              <a:solidFill>
                <a:srgbClr val="052049"/>
              </a:solidFill>
              <a:latin typeface="Garamond" panose="02020404030301010803" pitchFamily="18" charset="0"/>
            </a:endParaRPr>
          </a:p>
          <a:p>
            <a:pPr algn="l"/>
            <a:r>
              <a:rPr lang="en-US" sz="1800" b="0" i="0" u="none" strike="noStrike" baseline="0" dirty="0">
                <a:solidFill>
                  <a:srgbClr val="052049"/>
                </a:solidFill>
                <a:latin typeface="Garamond" panose="02020404030301010803" pitchFamily="18" charset="0"/>
              </a:rPr>
              <a:t>The </a:t>
            </a:r>
            <a:r>
              <a:rPr lang="en-US" sz="1800" b="0" i="1" u="none" strike="noStrike" baseline="0" dirty="0">
                <a:solidFill>
                  <a:srgbClr val="052049"/>
                </a:solidFill>
                <a:latin typeface="Garamond-Italic"/>
              </a:rPr>
              <a:t>preference effect </a:t>
            </a:r>
            <a:r>
              <a:rPr lang="en-US" sz="1800" b="0" i="0" u="none" strike="noStrike" baseline="0" dirty="0">
                <a:solidFill>
                  <a:srgbClr val="052049"/>
                </a:solidFill>
                <a:latin typeface="Garamond" panose="02020404030301010803" pitchFamily="18" charset="0"/>
              </a:rPr>
              <a:t>is the additional change in outcome that results from the interaction between a patient’s preferred treatment and</a:t>
            </a:r>
          </a:p>
          <a:p>
            <a:pPr algn="l"/>
            <a:r>
              <a:rPr lang="en-US" sz="1800" b="0" i="0" u="none" strike="noStrike" baseline="0" dirty="0">
                <a:solidFill>
                  <a:srgbClr val="052049"/>
                </a:solidFill>
                <a:latin typeface="Garamond" panose="02020404030301010803" pitchFamily="18" charset="0"/>
              </a:rPr>
              <a:t>the treatment he/she actually receives.</a:t>
            </a:r>
          </a:p>
          <a:p>
            <a:pPr algn="l"/>
            <a:endParaRPr lang="en-US" sz="1800" b="0" i="0" u="none" strike="noStrike" baseline="0" dirty="0">
              <a:solidFill>
                <a:srgbClr val="052049"/>
              </a:solidFill>
              <a:latin typeface="Garamond" panose="02020404030301010803" pitchFamily="18" charset="0"/>
            </a:endParaRPr>
          </a:p>
          <a:p>
            <a:pPr algn="l"/>
            <a:r>
              <a:rPr lang="en-US" sz="1800" b="0" i="0" u="none" strike="noStrike" baseline="0" dirty="0">
                <a:solidFill>
                  <a:srgbClr val="052049"/>
                </a:solidFill>
                <a:latin typeface="Garamond" panose="02020404030301010803" pitchFamily="18" charset="0"/>
              </a:rPr>
              <a:t>Does treatment A have better outcomes than treatment B? Does the treatment effect vary based on whether the treatment was a choice?</a:t>
            </a:r>
            <a:endParaRPr lang="en-US" sz="1800" dirty="0"/>
          </a:p>
          <a:p>
            <a:pPr algn="l"/>
            <a:endParaRPr lang="en-US" sz="1800" b="0" i="0" u="none" strike="noStrike" baseline="0" dirty="0">
              <a:solidFill>
                <a:srgbClr val="052049"/>
              </a:solidFill>
              <a:latin typeface="Garamond" panose="02020404030301010803" pitchFamily="18" charset="0"/>
            </a:endParaRPr>
          </a:p>
          <a:p>
            <a:pPr algn="l"/>
            <a:endParaRPr lang="en-US" sz="1800" b="0" i="0" u="none" strike="noStrike" baseline="0" dirty="0">
              <a:solidFill>
                <a:srgbClr val="052049"/>
              </a:solidFill>
              <a:latin typeface="Garamond" panose="02020404030301010803" pitchFamily="18" charset="0"/>
            </a:endParaRPr>
          </a:p>
        </p:txBody>
      </p:sp>
      <p:sp>
        <p:nvSpPr>
          <p:cNvPr id="4" name="Slide Number Placeholder 3"/>
          <p:cNvSpPr>
            <a:spLocks noGrp="1"/>
          </p:cNvSpPr>
          <p:nvPr>
            <p:ph type="sldNum" sz="quarter" idx="5"/>
          </p:nvPr>
        </p:nvSpPr>
        <p:spPr/>
        <p:txBody>
          <a:bodyPr/>
          <a:lstStyle/>
          <a:p>
            <a:fld id="{57513A7F-ED43-4CC5-9607-D648E698D27A}" type="slidenum">
              <a:rPr lang="en-US" smtClean="0"/>
              <a:t>21</a:t>
            </a:fld>
            <a:endParaRPr lang="en-US"/>
          </a:p>
        </p:txBody>
      </p:sp>
    </p:spTree>
    <p:extLst>
      <p:ext uri="{BB962C8B-B14F-4D97-AF65-F5344CB8AC3E}">
        <p14:creationId xmlns:p14="http://schemas.microsoft.com/office/powerpoint/2010/main" val="39438924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7513A7F-ED43-4CC5-9607-D648E698D27A}" type="slidenum">
              <a:rPr lang="en-US" smtClean="0"/>
              <a:t>22</a:t>
            </a:fld>
            <a:endParaRPr lang="en-US"/>
          </a:p>
        </p:txBody>
      </p:sp>
    </p:spTree>
    <p:extLst>
      <p:ext uri="{BB962C8B-B14F-4D97-AF65-F5344CB8AC3E}">
        <p14:creationId xmlns:p14="http://schemas.microsoft.com/office/powerpoint/2010/main" val="19415863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Traditionally, studies were conducted step-by-step:</a:t>
            </a:r>
          </a:p>
          <a:p>
            <a:pPr>
              <a:buFont typeface="+mj-lt"/>
              <a:buAutoNum type="arabicPeriod"/>
            </a:pPr>
            <a:r>
              <a:rPr lang="en-US" dirty="0"/>
              <a:t>Start with a randomized clinical trial to test how well an intervention works.</a:t>
            </a:r>
          </a:p>
          <a:p>
            <a:pPr>
              <a:buFont typeface="+mj-lt"/>
              <a:buAutoNum type="arabicPeriod"/>
            </a:pPr>
            <a:r>
              <a:rPr lang="en-US" dirty="0"/>
              <a:t>Follow up with an effectiveness study to see how it performs in a larger, more diverse group.</a:t>
            </a:r>
          </a:p>
          <a:p>
            <a:pPr>
              <a:buFont typeface="+mj-lt"/>
              <a:buAutoNum type="arabicPeriod"/>
            </a:pPr>
            <a:r>
              <a:rPr lang="en-US" dirty="0"/>
              <a:t>Conduct implementation research to put the intervention into practice.</a:t>
            </a:r>
          </a:p>
          <a:p>
            <a:r>
              <a:rPr lang="en-US" dirty="0"/>
              <a:t>When we need faster results and do not want to wait for each step to be completed (especially steps 2 and 3), we use a hybrid design.</a:t>
            </a:r>
          </a:p>
        </p:txBody>
      </p:sp>
      <p:sp>
        <p:nvSpPr>
          <p:cNvPr id="4" name="Slide Number Placeholder 3"/>
          <p:cNvSpPr>
            <a:spLocks noGrp="1"/>
          </p:cNvSpPr>
          <p:nvPr>
            <p:ph type="sldNum" sz="quarter" idx="5"/>
          </p:nvPr>
        </p:nvSpPr>
        <p:spPr/>
        <p:txBody>
          <a:bodyPr/>
          <a:lstStyle/>
          <a:p>
            <a:fld id="{57513A7F-ED43-4CC5-9607-D648E698D27A}" type="slidenum">
              <a:rPr lang="en-US" smtClean="0"/>
              <a:t>23</a:t>
            </a:fld>
            <a:endParaRPr lang="en-US"/>
          </a:p>
        </p:txBody>
      </p:sp>
    </p:spTree>
    <p:extLst>
      <p:ext uri="{BB962C8B-B14F-4D97-AF65-F5344CB8AC3E}">
        <p14:creationId xmlns:p14="http://schemas.microsoft.com/office/powerpoint/2010/main" val="25784061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Type 1 studies primarily focus on effectiveness, with implementation as a secondary aim. </a:t>
            </a:r>
          </a:p>
          <a:p>
            <a:pPr marL="171450" indent="-171450">
              <a:buFont typeface="Arial" panose="020B0604020202020204" pitchFamily="34" charset="0"/>
              <a:buChar char="•"/>
            </a:pPr>
            <a:r>
              <a:rPr lang="en-US" dirty="0"/>
              <a:t>Hybrid type 1 designs work when early evidence of effectiveness, but still unclear if effective in the new setting or population. </a:t>
            </a:r>
            <a:endParaRPr lang="en-US" b="0" dirty="0"/>
          </a:p>
          <a:p>
            <a:r>
              <a:rPr lang="en-US" b="0" dirty="0"/>
              <a:t>Type 2 studies have co-primary aims, addressing both effectiveness and implementation simultaneously.</a:t>
            </a:r>
          </a:p>
          <a:p>
            <a:pPr marL="171450" indent="-171450">
              <a:buFont typeface="Arial" panose="020B0604020202020204" pitchFamily="34" charset="0"/>
              <a:buChar char="•"/>
            </a:pPr>
            <a:r>
              <a:rPr lang="en-US" dirty="0"/>
              <a:t>Hybrid type 2 designs work when there is interest in studying implementation strategies, or comparing more than one strategy. </a:t>
            </a:r>
          </a:p>
          <a:p>
            <a:pPr marL="171450" indent="-171450">
              <a:buFont typeface="Arial" panose="020B0604020202020204" pitchFamily="34" charset="0"/>
              <a:buChar char="•"/>
            </a:pPr>
            <a:r>
              <a:rPr lang="en-US" dirty="0"/>
              <a:t>Hybrid type 2 designs also examine effectiveness –often if established evidence in other settings, but still unclear if effective in the new setting or population</a:t>
            </a:r>
            <a:r>
              <a:rPr lang="en-US"/>
              <a:t>.  </a:t>
            </a:r>
            <a:endParaRPr lang="en-US" b="0" dirty="0"/>
          </a:p>
          <a:p>
            <a:r>
              <a:rPr lang="en-US" b="0" dirty="0"/>
              <a:t>Type 3 studies prioritize implementation, with effectiveness as a secondary aim.</a:t>
            </a:r>
          </a:p>
          <a:p>
            <a:pPr marL="171450" indent="-171450">
              <a:buFont typeface="Arial" panose="020B0604020202020204" pitchFamily="34" charset="0"/>
              <a:buChar char="•"/>
            </a:pPr>
            <a:r>
              <a:rPr lang="en-US" sz="1200" kern="1200" dirty="0">
                <a:solidFill>
                  <a:schemeClr val="tx1"/>
                </a:solidFill>
                <a:latin typeface="+mn-lt"/>
                <a:ea typeface="+mn-ea"/>
                <a:cs typeface="+mn-cs"/>
              </a:rPr>
              <a:t>Hybrid</a:t>
            </a:r>
            <a:r>
              <a:rPr lang="en-US" dirty="0"/>
              <a:t> type 3 designs work when the real goal is to evaluate implementation outcomes, such as fidelity, sustainability, adoption, reach, more often targeted at the system, clinic, or provider. Factors affecting maintenance and scale-up often included too.</a:t>
            </a:r>
            <a:endParaRPr lang="en-US" b="0" dirty="0"/>
          </a:p>
          <a:p>
            <a:endParaRPr lang="en-US" dirty="0"/>
          </a:p>
        </p:txBody>
      </p:sp>
      <p:sp>
        <p:nvSpPr>
          <p:cNvPr id="4" name="Slide Number Placeholder 3"/>
          <p:cNvSpPr>
            <a:spLocks noGrp="1"/>
          </p:cNvSpPr>
          <p:nvPr>
            <p:ph type="sldNum" sz="quarter" idx="5"/>
          </p:nvPr>
        </p:nvSpPr>
        <p:spPr/>
        <p:txBody>
          <a:bodyPr/>
          <a:lstStyle/>
          <a:p>
            <a:fld id="{57513A7F-ED43-4CC5-9607-D648E698D27A}" type="slidenum">
              <a:rPr lang="en-US" smtClean="0"/>
              <a:t>24</a:t>
            </a:fld>
            <a:endParaRPr lang="en-US"/>
          </a:p>
        </p:txBody>
      </p:sp>
    </p:spTree>
    <p:extLst>
      <p:ext uri="{BB962C8B-B14F-4D97-AF65-F5344CB8AC3E}">
        <p14:creationId xmlns:p14="http://schemas.microsoft.com/office/powerpoint/2010/main" val="2729214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AD7ED-5DA4-3858-23B1-E41C954B03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F5EA7C-0BEE-B809-4614-AA5010D3C0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497315-CE58-7E6E-3610-202673C98616}"/>
              </a:ext>
            </a:extLst>
          </p:cNvPr>
          <p:cNvSpPr>
            <a:spLocks noGrp="1"/>
          </p:cNvSpPr>
          <p:nvPr>
            <p:ph type="dt" sz="half" idx="10"/>
          </p:nvPr>
        </p:nvSpPr>
        <p:spPr/>
        <p:txBody>
          <a:bodyPr/>
          <a:lstStyle/>
          <a:p>
            <a:fld id="{DF072CD8-FBAA-483D-8C72-4B80A5408E41}" type="datetimeFigureOut">
              <a:rPr lang="en-US" smtClean="0"/>
              <a:t>10/3/2024</a:t>
            </a:fld>
            <a:endParaRPr lang="en-US"/>
          </a:p>
        </p:txBody>
      </p:sp>
      <p:sp>
        <p:nvSpPr>
          <p:cNvPr id="5" name="Footer Placeholder 4">
            <a:extLst>
              <a:ext uri="{FF2B5EF4-FFF2-40B4-BE49-F238E27FC236}">
                <a16:creationId xmlns:a16="http://schemas.microsoft.com/office/drawing/2014/main" id="{8B24B4A7-9340-CC03-F931-8D8348DA75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188856-96CC-89FB-F0D4-F038CF385AE8}"/>
              </a:ext>
            </a:extLst>
          </p:cNvPr>
          <p:cNvSpPr>
            <a:spLocks noGrp="1"/>
          </p:cNvSpPr>
          <p:nvPr>
            <p:ph type="sldNum" sz="quarter" idx="12"/>
          </p:nvPr>
        </p:nvSpPr>
        <p:spPr/>
        <p:txBody>
          <a:bodyPr/>
          <a:lstStyle/>
          <a:p>
            <a:fld id="{DBFA03B6-63B0-4E27-AD69-B9CE65858AC6}" type="slidenum">
              <a:rPr lang="en-US" smtClean="0"/>
              <a:t>‹#›</a:t>
            </a:fld>
            <a:endParaRPr lang="en-US"/>
          </a:p>
        </p:txBody>
      </p:sp>
    </p:spTree>
    <p:extLst>
      <p:ext uri="{BB962C8B-B14F-4D97-AF65-F5344CB8AC3E}">
        <p14:creationId xmlns:p14="http://schemas.microsoft.com/office/powerpoint/2010/main" val="2277563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4CA24-8DE0-BD9D-DBB1-FF1CFD3378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F645B4-6B4B-CD36-431F-DB62E68804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D09CF1-2041-D2F9-F18A-89D91C269252}"/>
              </a:ext>
            </a:extLst>
          </p:cNvPr>
          <p:cNvSpPr>
            <a:spLocks noGrp="1"/>
          </p:cNvSpPr>
          <p:nvPr>
            <p:ph type="dt" sz="half" idx="10"/>
          </p:nvPr>
        </p:nvSpPr>
        <p:spPr/>
        <p:txBody>
          <a:bodyPr/>
          <a:lstStyle/>
          <a:p>
            <a:fld id="{DF072CD8-FBAA-483D-8C72-4B80A5408E41}" type="datetimeFigureOut">
              <a:rPr lang="en-US" smtClean="0"/>
              <a:t>10/3/2024</a:t>
            </a:fld>
            <a:endParaRPr lang="en-US"/>
          </a:p>
        </p:txBody>
      </p:sp>
      <p:sp>
        <p:nvSpPr>
          <p:cNvPr id="5" name="Footer Placeholder 4">
            <a:extLst>
              <a:ext uri="{FF2B5EF4-FFF2-40B4-BE49-F238E27FC236}">
                <a16:creationId xmlns:a16="http://schemas.microsoft.com/office/drawing/2014/main" id="{13D8D5B3-A7F4-3CD4-8C1A-3899E3141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BFB392-0C26-DCCC-5D27-46251B0A4D2E}"/>
              </a:ext>
            </a:extLst>
          </p:cNvPr>
          <p:cNvSpPr>
            <a:spLocks noGrp="1"/>
          </p:cNvSpPr>
          <p:nvPr>
            <p:ph type="sldNum" sz="quarter" idx="12"/>
          </p:nvPr>
        </p:nvSpPr>
        <p:spPr/>
        <p:txBody>
          <a:bodyPr/>
          <a:lstStyle/>
          <a:p>
            <a:fld id="{DBFA03B6-63B0-4E27-AD69-B9CE65858AC6}" type="slidenum">
              <a:rPr lang="en-US" smtClean="0"/>
              <a:t>‹#›</a:t>
            </a:fld>
            <a:endParaRPr lang="en-US"/>
          </a:p>
        </p:txBody>
      </p:sp>
    </p:spTree>
    <p:extLst>
      <p:ext uri="{BB962C8B-B14F-4D97-AF65-F5344CB8AC3E}">
        <p14:creationId xmlns:p14="http://schemas.microsoft.com/office/powerpoint/2010/main" val="2790955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E532A-AEB5-A71F-7EC1-4B97847666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D13675-5554-455B-75A3-CB8B7B3EBA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34953B-4635-87F2-1CB9-9C313F8BB592}"/>
              </a:ext>
            </a:extLst>
          </p:cNvPr>
          <p:cNvSpPr>
            <a:spLocks noGrp="1"/>
          </p:cNvSpPr>
          <p:nvPr>
            <p:ph type="dt" sz="half" idx="10"/>
          </p:nvPr>
        </p:nvSpPr>
        <p:spPr/>
        <p:txBody>
          <a:bodyPr/>
          <a:lstStyle/>
          <a:p>
            <a:fld id="{DF072CD8-FBAA-483D-8C72-4B80A5408E41}" type="datetimeFigureOut">
              <a:rPr lang="en-US" smtClean="0"/>
              <a:t>10/3/2024</a:t>
            </a:fld>
            <a:endParaRPr lang="en-US"/>
          </a:p>
        </p:txBody>
      </p:sp>
      <p:sp>
        <p:nvSpPr>
          <p:cNvPr id="5" name="Footer Placeholder 4">
            <a:extLst>
              <a:ext uri="{FF2B5EF4-FFF2-40B4-BE49-F238E27FC236}">
                <a16:creationId xmlns:a16="http://schemas.microsoft.com/office/drawing/2014/main" id="{EF4C751C-8DA3-A240-10C2-92664EC6BE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5CDBB3-5D29-A0A9-354D-B82CC8B7FEF3}"/>
              </a:ext>
            </a:extLst>
          </p:cNvPr>
          <p:cNvSpPr>
            <a:spLocks noGrp="1"/>
          </p:cNvSpPr>
          <p:nvPr>
            <p:ph type="sldNum" sz="quarter" idx="12"/>
          </p:nvPr>
        </p:nvSpPr>
        <p:spPr/>
        <p:txBody>
          <a:bodyPr/>
          <a:lstStyle/>
          <a:p>
            <a:fld id="{DBFA03B6-63B0-4E27-AD69-B9CE65858AC6}" type="slidenum">
              <a:rPr lang="en-US" smtClean="0"/>
              <a:t>‹#›</a:t>
            </a:fld>
            <a:endParaRPr lang="en-US"/>
          </a:p>
        </p:txBody>
      </p:sp>
    </p:spTree>
    <p:extLst>
      <p:ext uri="{BB962C8B-B14F-4D97-AF65-F5344CB8AC3E}">
        <p14:creationId xmlns:p14="http://schemas.microsoft.com/office/powerpoint/2010/main" val="3586964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5D309-B1E1-6CC9-6A2B-96BF2A2117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4969B1-66E3-C471-7A10-CC31E55687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E9459D-9E3A-BF0B-2098-9F7AC868D8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8D81EA-F2F6-9865-1941-B2963133AF6B}"/>
              </a:ext>
            </a:extLst>
          </p:cNvPr>
          <p:cNvSpPr>
            <a:spLocks noGrp="1"/>
          </p:cNvSpPr>
          <p:nvPr>
            <p:ph type="dt" sz="half" idx="10"/>
          </p:nvPr>
        </p:nvSpPr>
        <p:spPr/>
        <p:txBody>
          <a:bodyPr/>
          <a:lstStyle/>
          <a:p>
            <a:fld id="{DF072CD8-FBAA-483D-8C72-4B80A5408E41}" type="datetimeFigureOut">
              <a:rPr lang="en-US" smtClean="0"/>
              <a:t>10/3/2024</a:t>
            </a:fld>
            <a:endParaRPr lang="en-US"/>
          </a:p>
        </p:txBody>
      </p:sp>
      <p:sp>
        <p:nvSpPr>
          <p:cNvPr id="6" name="Footer Placeholder 5">
            <a:extLst>
              <a:ext uri="{FF2B5EF4-FFF2-40B4-BE49-F238E27FC236}">
                <a16:creationId xmlns:a16="http://schemas.microsoft.com/office/drawing/2014/main" id="{A748541D-80AC-7FF0-F2B2-3C8CEFC713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CD858F-B88C-6EE0-D91A-80BBE991B0E5}"/>
              </a:ext>
            </a:extLst>
          </p:cNvPr>
          <p:cNvSpPr>
            <a:spLocks noGrp="1"/>
          </p:cNvSpPr>
          <p:nvPr>
            <p:ph type="sldNum" sz="quarter" idx="12"/>
          </p:nvPr>
        </p:nvSpPr>
        <p:spPr/>
        <p:txBody>
          <a:bodyPr/>
          <a:lstStyle/>
          <a:p>
            <a:fld id="{DBFA03B6-63B0-4E27-AD69-B9CE65858AC6}" type="slidenum">
              <a:rPr lang="en-US" smtClean="0"/>
              <a:t>‹#›</a:t>
            </a:fld>
            <a:endParaRPr lang="en-US"/>
          </a:p>
        </p:txBody>
      </p:sp>
    </p:spTree>
    <p:extLst>
      <p:ext uri="{BB962C8B-B14F-4D97-AF65-F5344CB8AC3E}">
        <p14:creationId xmlns:p14="http://schemas.microsoft.com/office/powerpoint/2010/main" val="2762584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07168-D867-4415-70FB-02EEFF2198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CD5B88-4432-BD69-93E7-CD548D96FC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86508A-9AA1-4A10-3CF5-B7119CC335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E2CEAE-352A-D3B0-5C3B-6EFA064B36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0BDDCF-A352-4726-349E-40D4C4CF5B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6F15B0-39E4-59A0-09EE-F06C86F76EDF}"/>
              </a:ext>
            </a:extLst>
          </p:cNvPr>
          <p:cNvSpPr>
            <a:spLocks noGrp="1"/>
          </p:cNvSpPr>
          <p:nvPr>
            <p:ph type="dt" sz="half" idx="10"/>
          </p:nvPr>
        </p:nvSpPr>
        <p:spPr/>
        <p:txBody>
          <a:bodyPr/>
          <a:lstStyle/>
          <a:p>
            <a:fld id="{DF072CD8-FBAA-483D-8C72-4B80A5408E41}" type="datetimeFigureOut">
              <a:rPr lang="en-US" smtClean="0"/>
              <a:t>10/3/2024</a:t>
            </a:fld>
            <a:endParaRPr lang="en-US"/>
          </a:p>
        </p:txBody>
      </p:sp>
      <p:sp>
        <p:nvSpPr>
          <p:cNvPr id="8" name="Footer Placeholder 7">
            <a:extLst>
              <a:ext uri="{FF2B5EF4-FFF2-40B4-BE49-F238E27FC236}">
                <a16:creationId xmlns:a16="http://schemas.microsoft.com/office/drawing/2014/main" id="{88FEBCEA-820C-EB14-2F20-0E0CC47002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4AF6EC-32B4-2958-6A12-7708019AD6D9}"/>
              </a:ext>
            </a:extLst>
          </p:cNvPr>
          <p:cNvSpPr>
            <a:spLocks noGrp="1"/>
          </p:cNvSpPr>
          <p:nvPr>
            <p:ph type="sldNum" sz="quarter" idx="12"/>
          </p:nvPr>
        </p:nvSpPr>
        <p:spPr/>
        <p:txBody>
          <a:bodyPr/>
          <a:lstStyle/>
          <a:p>
            <a:fld id="{DBFA03B6-63B0-4E27-AD69-B9CE65858AC6}" type="slidenum">
              <a:rPr lang="en-US" smtClean="0"/>
              <a:t>‹#›</a:t>
            </a:fld>
            <a:endParaRPr lang="en-US"/>
          </a:p>
        </p:txBody>
      </p:sp>
    </p:spTree>
    <p:extLst>
      <p:ext uri="{BB962C8B-B14F-4D97-AF65-F5344CB8AC3E}">
        <p14:creationId xmlns:p14="http://schemas.microsoft.com/office/powerpoint/2010/main" val="2754279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5C8B7-AAA2-C6C9-AFE6-1E0DF5E2BF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34ACA1-E1E7-CFE1-1FD6-56D2BB3C507E}"/>
              </a:ext>
            </a:extLst>
          </p:cNvPr>
          <p:cNvSpPr>
            <a:spLocks noGrp="1"/>
          </p:cNvSpPr>
          <p:nvPr>
            <p:ph type="dt" sz="half" idx="10"/>
          </p:nvPr>
        </p:nvSpPr>
        <p:spPr/>
        <p:txBody>
          <a:bodyPr/>
          <a:lstStyle/>
          <a:p>
            <a:fld id="{DF072CD8-FBAA-483D-8C72-4B80A5408E41}" type="datetimeFigureOut">
              <a:rPr lang="en-US" smtClean="0"/>
              <a:t>10/3/2024</a:t>
            </a:fld>
            <a:endParaRPr lang="en-US"/>
          </a:p>
        </p:txBody>
      </p:sp>
      <p:sp>
        <p:nvSpPr>
          <p:cNvPr id="4" name="Footer Placeholder 3">
            <a:extLst>
              <a:ext uri="{FF2B5EF4-FFF2-40B4-BE49-F238E27FC236}">
                <a16:creationId xmlns:a16="http://schemas.microsoft.com/office/drawing/2014/main" id="{40BD52E3-DBC6-8053-0ABE-03357026E8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F85423-4E75-75B2-4B45-CE76991FA42E}"/>
              </a:ext>
            </a:extLst>
          </p:cNvPr>
          <p:cNvSpPr>
            <a:spLocks noGrp="1"/>
          </p:cNvSpPr>
          <p:nvPr>
            <p:ph type="sldNum" sz="quarter" idx="12"/>
          </p:nvPr>
        </p:nvSpPr>
        <p:spPr/>
        <p:txBody>
          <a:bodyPr/>
          <a:lstStyle/>
          <a:p>
            <a:fld id="{DBFA03B6-63B0-4E27-AD69-B9CE65858AC6}" type="slidenum">
              <a:rPr lang="en-US" smtClean="0"/>
              <a:t>‹#›</a:t>
            </a:fld>
            <a:endParaRPr lang="en-US"/>
          </a:p>
        </p:txBody>
      </p:sp>
    </p:spTree>
    <p:extLst>
      <p:ext uri="{BB962C8B-B14F-4D97-AF65-F5344CB8AC3E}">
        <p14:creationId xmlns:p14="http://schemas.microsoft.com/office/powerpoint/2010/main" val="255827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BD9A36-5C4E-B179-0CE1-A6B2B944C71B}"/>
              </a:ext>
            </a:extLst>
          </p:cNvPr>
          <p:cNvSpPr>
            <a:spLocks noGrp="1"/>
          </p:cNvSpPr>
          <p:nvPr>
            <p:ph type="dt" sz="half" idx="10"/>
          </p:nvPr>
        </p:nvSpPr>
        <p:spPr/>
        <p:txBody>
          <a:bodyPr/>
          <a:lstStyle/>
          <a:p>
            <a:fld id="{DF072CD8-FBAA-483D-8C72-4B80A5408E41}" type="datetimeFigureOut">
              <a:rPr lang="en-US" smtClean="0"/>
              <a:t>10/3/2024</a:t>
            </a:fld>
            <a:endParaRPr lang="en-US"/>
          </a:p>
        </p:txBody>
      </p:sp>
      <p:sp>
        <p:nvSpPr>
          <p:cNvPr id="3" name="Footer Placeholder 2">
            <a:extLst>
              <a:ext uri="{FF2B5EF4-FFF2-40B4-BE49-F238E27FC236}">
                <a16:creationId xmlns:a16="http://schemas.microsoft.com/office/drawing/2014/main" id="{FCB66906-3B66-12E4-75BC-597776F73A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EBBFD2-0272-5848-B2FA-33BF7245AF33}"/>
              </a:ext>
            </a:extLst>
          </p:cNvPr>
          <p:cNvSpPr>
            <a:spLocks noGrp="1"/>
          </p:cNvSpPr>
          <p:nvPr>
            <p:ph type="sldNum" sz="quarter" idx="12"/>
          </p:nvPr>
        </p:nvSpPr>
        <p:spPr/>
        <p:txBody>
          <a:bodyPr/>
          <a:lstStyle/>
          <a:p>
            <a:fld id="{DBFA03B6-63B0-4E27-AD69-B9CE65858AC6}" type="slidenum">
              <a:rPr lang="en-US" smtClean="0"/>
              <a:t>‹#›</a:t>
            </a:fld>
            <a:endParaRPr lang="en-US"/>
          </a:p>
        </p:txBody>
      </p:sp>
    </p:spTree>
    <p:extLst>
      <p:ext uri="{BB962C8B-B14F-4D97-AF65-F5344CB8AC3E}">
        <p14:creationId xmlns:p14="http://schemas.microsoft.com/office/powerpoint/2010/main" val="812777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17FC1-FAF4-F7CA-8026-11E5D43870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AB8CDC-7DD6-B612-D88F-5D6137009E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288632-A496-88BA-586E-EA762545B1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63F58-C7CC-6E9B-05DB-29825B154B32}"/>
              </a:ext>
            </a:extLst>
          </p:cNvPr>
          <p:cNvSpPr>
            <a:spLocks noGrp="1"/>
          </p:cNvSpPr>
          <p:nvPr>
            <p:ph type="dt" sz="half" idx="10"/>
          </p:nvPr>
        </p:nvSpPr>
        <p:spPr/>
        <p:txBody>
          <a:bodyPr/>
          <a:lstStyle/>
          <a:p>
            <a:fld id="{DF072CD8-FBAA-483D-8C72-4B80A5408E41}" type="datetimeFigureOut">
              <a:rPr lang="en-US" smtClean="0"/>
              <a:t>10/3/2024</a:t>
            </a:fld>
            <a:endParaRPr lang="en-US"/>
          </a:p>
        </p:txBody>
      </p:sp>
      <p:sp>
        <p:nvSpPr>
          <p:cNvPr id="6" name="Footer Placeholder 5">
            <a:extLst>
              <a:ext uri="{FF2B5EF4-FFF2-40B4-BE49-F238E27FC236}">
                <a16:creationId xmlns:a16="http://schemas.microsoft.com/office/drawing/2014/main" id="{BDF09363-5B68-ADD3-80BB-649DF07D37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CCEEA2-3A3F-AC08-9206-B31EEB7734F4}"/>
              </a:ext>
            </a:extLst>
          </p:cNvPr>
          <p:cNvSpPr>
            <a:spLocks noGrp="1"/>
          </p:cNvSpPr>
          <p:nvPr>
            <p:ph type="sldNum" sz="quarter" idx="12"/>
          </p:nvPr>
        </p:nvSpPr>
        <p:spPr/>
        <p:txBody>
          <a:bodyPr/>
          <a:lstStyle/>
          <a:p>
            <a:fld id="{DBFA03B6-63B0-4E27-AD69-B9CE65858AC6}" type="slidenum">
              <a:rPr lang="en-US" smtClean="0"/>
              <a:t>‹#›</a:t>
            </a:fld>
            <a:endParaRPr lang="en-US"/>
          </a:p>
        </p:txBody>
      </p:sp>
    </p:spTree>
    <p:extLst>
      <p:ext uri="{BB962C8B-B14F-4D97-AF65-F5344CB8AC3E}">
        <p14:creationId xmlns:p14="http://schemas.microsoft.com/office/powerpoint/2010/main" val="1681412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50B20-B5DF-E26B-DED3-4B7AA5048F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77A5F6-9FC0-532F-092F-0134580C20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2C4087-4231-71C7-4955-5570074A28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693CD2-27CE-8C59-836C-45E6C808EA9E}"/>
              </a:ext>
            </a:extLst>
          </p:cNvPr>
          <p:cNvSpPr>
            <a:spLocks noGrp="1"/>
          </p:cNvSpPr>
          <p:nvPr>
            <p:ph type="dt" sz="half" idx="10"/>
          </p:nvPr>
        </p:nvSpPr>
        <p:spPr/>
        <p:txBody>
          <a:bodyPr/>
          <a:lstStyle/>
          <a:p>
            <a:fld id="{DF072CD8-FBAA-483D-8C72-4B80A5408E41}" type="datetimeFigureOut">
              <a:rPr lang="en-US" smtClean="0"/>
              <a:t>10/3/2024</a:t>
            </a:fld>
            <a:endParaRPr lang="en-US"/>
          </a:p>
        </p:txBody>
      </p:sp>
      <p:sp>
        <p:nvSpPr>
          <p:cNvPr id="6" name="Footer Placeholder 5">
            <a:extLst>
              <a:ext uri="{FF2B5EF4-FFF2-40B4-BE49-F238E27FC236}">
                <a16:creationId xmlns:a16="http://schemas.microsoft.com/office/drawing/2014/main" id="{6659563B-B3D6-57D8-E7C3-04443BF51B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8C4805-8670-B25B-C20E-22574EDD16B7}"/>
              </a:ext>
            </a:extLst>
          </p:cNvPr>
          <p:cNvSpPr>
            <a:spLocks noGrp="1"/>
          </p:cNvSpPr>
          <p:nvPr>
            <p:ph type="sldNum" sz="quarter" idx="12"/>
          </p:nvPr>
        </p:nvSpPr>
        <p:spPr/>
        <p:txBody>
          <a:bodyPr/>
          <a:lstStyle/>
          <a:p>
            <a:fld id="{DBFA03B6-63B0-4E27-AD69-B9CE65858AC6}" type="slidenum">
              <a:rPr lang="en-US" smtClean="0"/>
              <a:t>‹#›</a:t>
            </a:fld>
            <a:endParaRPr lang="en-US"/>
          </a:p>
        </p:txBody>
      </p:sp>
    </p:spTree>
    <p:extLst>
      <p:ext uri="{BB962C8B-B14F-4D97-AF65-F5344CB8AC3E}">
        <p14:creationId xmlns:p14="http://schemas.microsoft.com/office/powerpoint/2010/main" val="3941945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CC3EE-C7CF-D068-4212-61815230EC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828430-1AB8-FD5B-3961-00E09AFF99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49BC6-D97E-5C14-295A-3A9B5E842900}"/>
              </a:ext>
            </a:extLst>
          </p:cNvPr>
          <p:cNvSpPr>
            <a:spLocks noGrp="1"/>
          </p:cNvSpPr>
          <p:nvPr>
            <p:ph type="dt" sz="half" idx="10"/>
          </p:nvPr>
        </p:nvSpPr>
        <p:spPr/>
        <p:txBody>
          <a:bodyPr/>
          <a:lstStyle/>
          <a:p>
            <a:fld id="{DF072CD8-FBAA-483D-8C72-4B80A5408E41}" type="datetimeFigureOut">
              <a:rPr lang="en-US" smtClean="0"/>
              <a:t>10/3/2024</a:t>
            </a:fld>
            <a:endParaRPr lang="en-US"/>
          </a:p>
        </p:txBody>
      </p:sp>
      <p:sp>
        <p:nvSpPr>
          <p:cNvPr id="5" name="Footer Placeholder 4">
            <a:extLst>
              <a:ext uri="{FF2B5EF4-FFF2-40B4-BE49-F238E27FC236}">
                <a16:creationId xmlns:a16="http://schemas.microsoft.com/office/drawing/2014/main" id="{147E2D47-C28E-30A3-2E20-3A30B93F97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C23B42-2F1C-DCA5-D3DA-2750A59B5774}"/>
              </a:ext>
            </a:extLst>
          </p:cNvPr>
          <p:cNvSpPr>
            <a:spLocks noGrp="1"/>
          </p:cNvSpPr>
          <p:nvPr>
            <p:ph type="sldNum" sz="quarter" idx="12"/>
          </p:nvPr>
        </p:nvSpPr>
        <p:spPr/>
        <p:txBody>
          <a:bodyPr/>
          <a:lstStyle/>
          <a:p>
            <a:fld id="{DBFA03B6-63B0-4E27-AD69-B9CE65858AC6}" type="slidenum">
              <a:rPr lang="en-US" smtClean="0"/>
              <a:t>‹#›</a:t>
            </a:fld>
            <a:endParaRPr lang="en-US"/>
          </a:p>
        </p:txBody>
      </p:sp>
    </p:spTree>
    <p:extLst>
      <p:ext uri="{BB962C8B-B14F-4D97-AF65-F5344CB8AC3E}">
        <p14:creationId xmlns:p14="http://schemas.microsoft.com/office/powerpoint/2010/main" val="571060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A50B46-6719-5301-0C38-B576D1D175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F79AFC-A10E-3529-F40B-A4995BF89F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9D7806-528E-6E41-1216-DDEE19965325}"/>
              </a:ext>
            </a:extLst>
          </p:cNvPr>
          <p:cNvSpPr>
            <a:spLocks noGrp="1"/>
          </p:cNvSpPr>
          <p:nvPr>
            <p:ph type="dt" sz="half" idx="10"/>
          </p:nvPr>
        </p:nvSpPr>
        <p:spPr/>
        <p:txBody>
          <a:bodyPr/>
          <a:lstStyle/>
          <a:p>
            <a:fld id="{DF072CD8-FBAA-483D-8C72-4B80A5408E41}" type="datetimeFigureOut">
              <a:rPr lang="en-US" smtClean="0"/>
              <a:t>10/3/2024</a:t>
            </a:fld>
            <a:endParaRPr lang="en-US"/>
          </a:p>
        </p:txBody>
      </p:sp>
      <p:sp>
        <p:nvSpPr>
          <p:cNvPr id="5" name="Footer Placeholder 4">
            <a:extLst>
              <a:ext uri="{FF2B5EF4-FFF2-40B4-BE49-F238E27FC236}">
                <a16:creationId xmlns:a16="http://schemas.microsoft.com/office/drawing/2014/main" id="{C5EC8007-3F5B-9521-E19E-F57293D819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E420CE-37C9-4BA6-248A-3D6A317B41BA}"/>
              </a:ext>
            </a:extLst>
          </p:cNvPr>
          <p:cNvSpPr>
            <a:spLocks noGrp="1"/>
          </p:cNvSpPr>
          <p:nvPr>
            <p:ph type="sldNum" sz="quarter" idx="12"/>
          </p:nvPr>
        </p:nvSpPr>
        <p:spPr/>
        <p:txBody>
          <a:bodyPr/>
          <a:lstStyle/>
          <a:p>
            <a:fld id="{DBFA03B6-63B0-4E27-AD69-B9CE65858AC6}" type="slidenum">
              <a:rPr lang="en-US" smtClean="0"/>
              <a:t>‹#›</a:t>
            </a:fld>
            <a:endParaRPr lang="en-US"/>
          </a:p>
        </p:txBody>
      </p:sp>
    </p:spTree>
    <p:extLst>
      <p:ext uri="{BB962C8B-B14F-4D97-AF65-F5344CB8AC3E}">
        <p14:creationId xmlns:p14="http://schemas.microsoft.com/office/powerpoint/2010/main" val="3568937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ED3226-05F3-8141-CB64-DF681CCA5F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CB9CCD-AB59-FFC5-A741-42C7ECA9ED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7C0075-DC15-55C9-D732-7AC2CC3F2C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072CD8-FBAA-483D-8C72-4B80A5408E41}" type="datetimeFigureOut">
              <a:rPr lang="en-US" smtClean="0"/>
              <a:t>10/3/2024</a:t>
            </a:fld>
            <a:endParaRPr lang="en-US"/>
          </a:p>
        </p:txBody>
      </p:sp>
      <p:sp>
        <p:nvSpPr>
          <p:cNvPr id="5" name="Footer Placeholder 4">
            <a:extLst>
              <a:ext uri="{FF2B5EF4-FFF2-40B4-BE49-F238E27FC236}">
                <a16:creationId xmlns:a16="http://schemas.microsoft.com/office/drawing/2014/main" id="{20DC3055-78A3-DD8F-01CF-6F1C692634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CEABC29-3CCD-A0FE-2AFB-72FD8434D3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FA03B6-63B0-4E27-AD69-B9CE65858AC6}" type="slidenum">
              <a:rPr lang="en-US" smtClean="0"/>
              <a:t>‹#›</a:t>
            </a:fld>
            <a:endParaRPr lang="en-US"/>
          </a:p>
        </p:txBody>
      </p:sp>
    </p:spTree>
    <p:extLst>
      <p:ext uri="{BB962C8B-B14F-4D97-AF65-F5344CB8AC3E}">
        <p14:creationId xmlns:p14="http://schemas.microsoft.com/office/powerpoint/2010/main" val="505912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67CA-BE7A-3FE4-BAD4-47C71BBCC862}"/>
              </a:ext>
            </a:extLst>
          </p:cNvPr>
          <p:cNvSpPr>
            <a:spLocks noGrp="1"/>
          </p:cNvSpPr>
          <p:nvPr>
            <p:ph type="ctrTitle"/>
          </p:nvPr>
        </p:nvSpPr>
        <p:spPr/>
        <p:txBody>
          <a:bodyPr/>
          <a:lstStyle/>
          <a:p>
            <a:r>
              <a:rPr lang="en-US" dirty="0"/>
              <a:t>Intervention Designs in Real World Settings</a:t>
            </a:r>
          </a:p>
        </p:txBody>
      </p:sp>
      <p:sp>
        <p:nvSpPr>
          <p:cNvPr id="3" name="Subtitle 2">
            <a:extLst>
              <a:ext uri="{FF2B5EF4-FFF2-40B4-BE49-F238E27FC236}">
                <a16:creationId xmlns:a16="http://schemas.microsoft.com/office/drawing/2014/main" id="{976E9C5F-66D9-64BF-C02B-D9A70DB8512B}"/>
              </a:ext>
            </a:extLst>
          </p:cNvPr>
          <p:cNvSpPr>
            <a:spLocks noGrp="1"/>
          </p:cNvSpPr>
          <p:nvPr>
            <p:ph type="subTitle" idx="1"/>
          </p:nvPr>
        </p:nvSpPr>
        <p:spPr>
          <a:xfrm>
            <a:off x="1524000" y="4400060"/>
            <a:ext cx="9144000" cy="1655762"/>
          </a:xfrm>
        </p:spPr>
        <p:txBody>
          <a:bodyPr/>
          <a:lstStyle/>
          <a:p>
            <a:r>
              <a:rPr lang="en-US" dirty="0"/>
              <a:t>Amy </a:t>
            </a:r>
            <a:r>
              <a:rPr lang="en-US" dirty="0" err="1"/>
              <a:t>Amspoker</a:t>
            </a:r>
            <a:endParaRPr lang="en-US" dirty="0"/>
          </a:p>
          <a:p>
            <a:r>
              <a:rPr lang="en-US" dirty="0"/>
              <a:t>Hao Duong</a:t>
            </a:r>
          </a:p>
          <a:p>
            <a:endParaRPr lang="en-US" dirty="0"/>
          </a:p>
        </p:txBody>
      </p:sp>
    </p:spTree>
    <p:extLst>
      <p:ext uri="{BB962C8B-B14F-4D97-AF65-F5344CB8AC3E}">
        <p14:creationId xmlns:p14="http://schemas.microsoft.com/office/powerpoint/2010/main" val="3344022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9D3D2-CAEE-D07F-0E4F-D7D79C10DAB4}"/>
              </a:ext>
            </a:extLst>
          </p:cNvPr>
          <p:cNvSpPr>
            <a:spLocks noGrp="1"/>
          </p:cNvSpPr>
          <p:nvPr>
            <p:ph type="title"/>
          </p:nvPr>
        </p:nvSpPr>
        <p:spPr>
          <a:solidFill>
            <a:srgbClr val="FFC000"/>
          </a:solidFill>
        </p:spPr>
        <p:txBody>
          <a:bodyPr vert="horz" lIns="91440" tIns="45720" rIns="91440" bIns="45720" rtlCol="0" anchor="ctr" anchorCtr="0">
            <a:normAutofit/>
          </a:bodyPr>
          <a:lstStyle/>
          <a:p>
            <a:pPr algn="ctr"/>
            <a:r>
              <a:rPr lang="en-US" b="1" dirty="0">
                <a:latin typeface="+mn-lt"/>
              </a:rPr>
              <a:t>Introduction</a:t>
            </a:r>
            <a:endParaRPr lang="en-US" dirty="0">
              <a:latin typeface="+mn-lt"/>
            </a:endParaRPr>
          </a:p>
        </p:txBody>
      </p:sp>
    </p:spTree>
    <p:extLst>
      <p:ext uri="{BB962C8B-B14F-4D97-AF65-F5344CB8AC3E}">
        <p14:creationId xmlns:p14="http://schemas.microsoft.com/office/powerpoint/2010/main" val="3450986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8E9B9-2018-AA3F-DDC3-543EB95BA546}"/>
              </a:ext>
            </a:extLst>
          </p:cNvPr>
          <p:cNvSpPr>
            <a:spLocks noGrp="1"/>
          </p:cNvSpPr>
          <p:nvPr>
            <p:ph type="ctrTitle"/>
          </p:nvPr>
        </p:nvSpPr>
        <p:spPr>
          <a:xfrm>
            <a:off x="426720" y="0"/>
            <a:ext cx="11338560" cy="1130531"/>
          </a:xfrm>
        </p:spPr>
        <p:txBody>
          <a:bodyPr>
            <a:normAutofit/>
          </a:bodyPr>
          <a:lstStyle/>
          <a:p>
            <a:r>
              <a:rPr lang="en-US" sz="4000" dirty="0"/>
              <a:t>Why a course on real-world intervention designs?</a:t>
            </a:r>
          </a:p>
        </p:txBody>
      </p:sp>
      <p:sp>
        <p:nvSpPr>
          <p:cNvPr id="3" name="Subtitle 2">
            <a:extLst>
              <a:ext uri="{FF2B5EF4-FFF2-40B4-BE49-F238E27FC236}">
                <a16:creationId xmlns:a16="http://schemas.microsoft.com/office/drawing/2014/main" id="{451A1985-2863-FBE5-0600-DD5A23A6529B}"/>
              </a:ext>
            </a:extLst>
          </p:cNvPr>
          <p:cNvSpPr>
            <a:spLocks noGrp="1"/>
          </p:cNvSpPr>
          <p:nvPr>
            <p:ph type="subTitle" idx="1"/>
          </p:nvPr>
        </p:nvSpPr>
        <p:spPr>
          <a:xfrm>
            <a:off x="548639" y="1972744"/>
            <a:ext cx="11504815" cy="1655762"/>
          </a:xfrm>
        </p:spPr>
        <p:txBody>
          <a:bodyPr>
            <a:normAutofit/>
          </a:bodyPr>
          <a:lstStyle/>
          <a:p>
            <a:pPr marL="457200" indent="-457200" algn="l">
              <a:buAutoNum type="arabicPeriod"/>
            </a:pPr>
            <a:r>
              <a:rPr lang="en-US" dirty="0"/>
              <a:t>There is an evidence-practice gap in how we produce ‘actionable’ evidence (which we can partially fix with better designs suited to our questions)</a:t>
            </a:r>
          </a:p>
          <a:p>
            <a:pPr marL="457200" indent="-457200" algn="l">
              <a:buAutoNum type="arabicPeriod"/>
            </a:pPr>
            <a:r>
              <a:rPr lang="en-US" dirty="0"/>
              <a:t>We often use the same tool for all questions, when there are many tools for different questions</a:t>
            </a:r>
          </a:p>
          <a:p>
            <a:pPr marL="457200" indent="-457200">
              <a:buAutoNum type="arabicPeriod"/>
            </a:pPr>
            <a:endParaRPr lang="en-US" dirty="0"/>
          </a:p>
        </p:txBody>
      </p:sp>
      <p:pic>
        <p:nvPicPr>
          <p:cNvPr id="5" name="Picture 4">
            <a:extLst>
              <a:ext uri="{FF2B5EF4-FFF2-40B4-BE49-F238E27FC236}">
                <a16:creationId xmlns:a16="http://schemas.microsoft.com/office/drawing/2014/main" id="{0F0D1599-61C0-9376-361B-A6D2FBD2E776}"/>
              </a:ext>
            </a:extLst>
          </p:cNvPr>
          <p:cNvPicPr>
            <a:picLocks noChangeAspect="1"/>
          </p:cNvPicPr>
          <p:nvPr/>
        </p:nvPicPr>
        <p:blipFill>
          <a:blip r:embed="rId3"/>
          <a:srcRect l="25166" t="33939" r="17622" b="52939"/>
          <a:stretch/>
        </p:blipFill>
        <p:spPr>
          <a:xfrm>
            <a:off x="886689" y="3911138"/>
            <a:ext cx="10828713" cy="1655762"/>
          </a:xfrm>
          <a:prstGeom prst="rect">
            <a:avLst/>
          </a:prstGeom>
        </p:spPr>
      </p:pic>
    </p:spTree>
    <p:extLst>
      <p:ext uri="{BB962C8B-B14F-4D97-AF65-F5344CB8AC3E}">
        <p14:creationId xmlns:p14="http://schemas.microsoft.com/office/powerpoint/2010/main" val="395603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9D3D2-CAEE-D07F-0E4F-D7D79C10DAB4}"/>
              </a:ext>
            </a:extLst>
          </p:cNvPr>
          <p:cNvSpPr>
            <a:spLocks noGrp="1"/>
          </p:cNvSpPr>
          <p:nvPr>
            <p:ph type="title"/>
          </p:nvPr>
        </p:nvSpPr>
        <p:spPr>
          <a:solidFill>
            <a:srgbClr val="FFC000"/>
          </a:solidFill>
        </p:spPr>
        <p:txBody>
          <a:bodyPr vert="horz" lIns="91440" tIns="45720" rIns="91440" bIns="45720" rtlCol="0" anchor="ctr" anchorCtr="0">
            <a:normAutofit/>
          </a:bodyPr>
          <a:lstStyle/>
          <a:p>
            <a:pPr algn="ctr"/>
            <a:r>
              <a:rPr lang="en-US" b="1" dirty="0">
                <a:latin typeface="+mn-lt"/>
              </a:rPr>
              <a:t>Pre-post studies </a:t>
            </a:r>
            <a:br>
              <a:rPr lang="en-US" b="1" dirty="0">
                <a:latin typeface="+mn-lt"/>
              </a:rPr>
            </a:br>
            <a:r>
              <a:rPr lang="en-US" b="1" dirty="0">
                <a:latin typeface="+mn-lt"/>
              </a:rPr>
              <a:t>Interrupted time series</a:t>
            </a:r>
            <a:endParaRPr lang="en-US" dirty="0">
              <a:latin typeface="+mn-lt"/>
            </a:endParaRPr>
          </a:p>
        </p:txBody>
      </p:sp>
    </p:spTree>
    <p:extLst>
      <p:ext uri="{BB962C8B-B14F-4D97-AF65-F5344CB8AC3E}">
        <p14:creationId xmlns:p14="http://schemas.microsoft.com/office/powerpoint/2010/main" val="4234727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676934A-EB0F-5EFA-6705-5A2851DB7BDD}"/>
              </a:ext>
            </a:extLst>
          </p:cNvPr>
          <p:cNvPicPr>
            <a:picLocks noChangeAspect="1"/>
          </p:cNvPicPr>
          <p:nvPr/>
        </p:nvPicPr>
        <p:blipFill rotWithShape="1">
          <a:blip r:embed="rId3"/>
          <a:srcRect t="23734"/>
          <a:stretch/>
        </p:blipFill>
        <p:spPr>
          <a:xfrm>
            <a:off x="852487" y="44976"/>
            <a:ext cx="10487025" cy="2644207"/>
          </a:xfrm>
          <a:prstGeom prst="rect">
            <a:avLst/>
          </a:prstGeom>
          <a:solidFill>
            <a:schemeClr val="tx1"/>
          </a:solidFill>
          <a:ln w="25400">
            <a:solidFill>
              <a:schemeClr val="tx1"/>
            </a:solidFill>
          </a:ln>
        </p:spPr>
      </p:pic>
      <p:pic>
        <p:nvPicPr>
          <p:cNvPr id="9" name="Picture 8">
            <a:extLst>
              <a:ext uri="{FF2B5EF4-FFF2-40B4-BE49-F238E27FC236}">
                <a16:creationId xmlns:a16="http://schemas.microsoft.com/office/drawing/2014/main" id="{1474BF78-8B52-A04E-82AE-495FAA4A67D9}"/>
              </a:ext>
            </a:extLst>
          </p:cNvPr>
          <p:cNvPicPr>
            <a:picLocks noChangeAspect="1"/>
          </p:cNvPicPr>
          <p:nvPr/>
        </p:nvPicPr>
        <p:blipFill rotWithShape="1">
          <a:blip r:embed="rId4"/>
          <a:srcRect t="22365" b="8778"/>
          <a:stretch/>
        </p:blipFill>
        <p:spPr>
          <a:xfrm>
            <a:off x="0" y="2983034"/>
            <a:ext cx="12192000" cy="3912438"/>
          </a:xfrm>
          <a:prstGeom prst="rect">
            <a:avLst/>
          </a:prstGeom>
          <a:solidFill>
            <a:schemeClr val="tx1"/>
          </a:solidFill>
          <a:ln w="25400">
            <a:solidFill>
              <a:schemeClr val="tx1"/>
            </a:solidFill>
          </a:ln>
        </p:spPr>
      </p:pic>
    </p:spTree>
    <p:extLst>
      <p:ext uri="{BB962C8B-B14F-4D97-AF65-F5344CB8AC3E}">
        <p14:creationId xmlns:p14="http://schemas.microsoft.com/office/powerpoint/2010/main" val="226245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8F39E1-D2F0-AA04-9788-0ACBB5555D29}"/>
              </a:ext>
            </a:extLst>
          </p:cNvPr>
          <p:cNvPicPr>
            <a:picLocks noChangeAspect="1"/>
          </p:cNvPicPr>
          <p:nvPr/>
        </p:nvPicPr>
        <p:blipFill>
          <a:blip r:embed="rId3"/>
          <a:stretch>
            <a:fillRect/>
          </a:stretch>
        </p:blipFill>
        <p:spPr>
          <a:xfrm>
            <a:off x="960853" y="328605"/>
            <a:ext cx="10011947" cy="6200790"/>
          </a:xfrm>
          <a:prstGeom prst="rect">
            <a:avLst/>
          </a:prstGeom>
          <a:solidFill>
            <a:schemeClr val="tx1"/>
          </a:solidFill>
          <a:ln w="25400">
            <a:solidFill>
              <a:schemeClr val="tx1"/>
            </a:solidFill>
          </a:ln>
        </p:spPr>
      </p:pic>
    </p:spTree>
    <p:extLst>
      <p:ext uri="{BB962C8B-B14F-4D97-AF65-F5344CB8AC3E}">
        <p14:creationId xmlns:p14="http://schemas.microsoft.com/office/powerpoint/2010/main" val="86136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C27D73-1CC4-D710-5E26-8A70A5AB10A0}"/>
              </a:ext>
            </a:extLst>
          </p:cNvPr>
          <p:cNvPicPr>
            <a:picLocks noChangeAspect="1"/>
          </p:cNvPicPr>
          <p:nvPr/>
        </p:nvPicPr>
        <p:blipFill>
          <a:blip r:embed="rId3"/>
          <a:stretch>
            <a:fillRect/>
          </a:stretch>
        </p:blipFill>
        <p:spPr>
          <a:xfrm>
            <a:off x="0" y="266585"/>
            <a:ext cx="12192000" cy="6324829"/>
          </a:xfrm>
          <a:prstGeom prst="rect">
            <a:avLst/>
          </a:prstGeom>
        </p:spPr>
      </p:pic>
    </p:spTree>
    <p:extLst>
      <p:ext uri="{BB962C8B-B14F-4D97-AF65-F5344CB8AC3E}">
        <p14:creationId xmlns:p14="http://schemas.microsoft.com/office/powerpoint/2010/main" val="1409668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2FA987-09A9-02DC-BC49-B0AE8DD3E37E}"/>
              </a:ext>
            </a:extLst>
          </p:cNvPr>
          <p:cNvPicPr>
            <a:picLocks noChangeAspect="1"/>
          </p:cNvPicPr>
          <p:nvPr/>
        </p:nvPicPr>
        <p:blipFill>
          <a:blip r:embed="rId3"/>
          <a:stretch>
            <a:fillRect/>
          </a:stretch>
        </p:blipFill>
        <p:spPr>
          <a:xfrm>
            <a:off x="4762" y="-64487"/>
            <a:ext cx="12182475" cy="4438650"/>
          </a:xfrm>
          <a:prstGeom prst="rect">
            <a:avLst/>
          </a:prstGeom>
        </p:spPr>
      </p:pic>
      <p:pic>
        <p:nvPicPr>
          <p:cNvPr id="5" name="Picture 4">
            <a:extLst>
              <a:ext uri="{FF2B5EF4-FFF2-40B4-BE49-F238E27FC236}">
                <a16:creationId xmlns:a16="http://schemas.microsoft.com/office/drawing/2014/main" id="{757AC42A-C976-5D49-6A2C-B107F0C088B3}"/>
              </a:ext>
            </a:extLst>
          </p:cNvPr>
          <p:cNvPicPr>
            <a:picLocks noChangeAspect="1"/>
          </p:cNvPicPr>
          <p:nvPr/>
        </p:nvPicPr>
        <p:blipFill>
          <a:blip r:embed="rId4"/>
          <a:stretch>
            <a:fillRect/>
          </a:stretch>
        </p:blipFill>
        <p:spPr>
          <a:xfrm>
            <a:off x="14287" y="2511706"/>
            <a:ext cx="12163425" cy="4352925"/>
          </a:xfrm>
          <a:prstGeom prst="rect">
            <a:avLst/>
          </a:prstGeom>
        </p:spPr>
      </p:pic>
    </p:spTree>
    <p:extLst>
      <p:ext uri="{BB962C8B-B14F-4D97-AF65-F5344CB8AC3E}">
        <p14:creationId xmlns:p14="http://schemas.microsoft.com/office/powerpoint/2010/main" val="472873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9D3D2-CAEE-D07F-0E4F-D7D79C10DAB4}"/>
              </a:ext>
            </a:extLst>
          </p:cNvPr>
          <p:cNvSpPr>
            <a:spLocks noGrp="1"/>
          </p:cNvSpPr>
          <p:nvPr>
            <p:ph type="title"/>
          </p:nvPr>
        </p:nvSpPr>
        <p:spPr>
          <a:solidFill>
            <a:srgbClr val="FFC000"/>
          </a:solidFill>
        </p:spPr>
        <p:txBody>
          <a:bodyPr vert="horz" lIns="91440" tIns="45720" rIns="91440" bIns="45720" rtlCol="0" anchor="ctr" anchorCtr="0">
            <a:normAutofit/>
          </a:bodyPr>
          <a:lstStyle/>
          <a:p>
            <a:pPr algn="ctr"/>
            <a:r>
              <a:rPr lang="en-US" b="1" dirty="0">
                <a:latin typeface="+mn-lt"/>
              </a:rPr>
              <a:t>Cluster Trials &amp; Stepped-Wedge Designs</a:t>
            </a:r>
            <a:endParaRPr lang="en-US" dirty="0">
              <a:latin typeface="+mn-lt"/>
            </a:endParaRPr>
          </a:p>
        </p:txBody>
      </p:sp>
    </p:spTree>
    <p:extLst>
      <p:ext uri="{BB962C8B-B14F-4D97-AF65-F5344CB8AC3E}">
        <p14:creationId xmlns:p14="http://schemas.microsoft.com/office/powerpoint/2010/main" val="984730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C673E91-DF9B-5BA7-9166-C43667B7F035}"/>
              </a:ext>
            </a:extLst>
          </p:cNvPr>
          <p:cNvPicPr>
            <a:picLocks noChangeAspect="1"/>
          </p:cNvPicPr>
          <p:nvPr/>
        </p:nvPicPr>
        <p:blipFill>
          <a:blip r:embed="rId3"/>
          <a:srcRect l="29348" t="27058" r="9687" b="44881"/>
          <a:stretch/>
        </p:blipFill>
        <p:spPr>
          <a:xfrm>
            <a:off x="433156" y="282632"/>
            <a:ext cx="8777347" cy="2693324"/>
          </a:xfrm>
          <a:prstGeom prst="rect">
            <a:avLst/>
          </a:prstGeom>
        </p:spPr>
      </p:pic>
      <p:pic>
        <p:nvPicPr>
          <p:cNvPr id="8" name="Picture 7">
            <a:extLst>
              <a:ext uri="{FF2B5EF4-FFF2-40B4-BE49-F238E27FC236}">
                <a16:creationId xmlns:a16="http://schemas.microsoft.com/office/drawing/2014/main" id="{6F8DEC6D-1BF1-371C-B190-44E712AF9740}"/>
              </a:ext>
            </a:extLst>
          </p:cNvPr>
          <p:cNvPicPr>
            <a:picLocks noChangeAspect="1"/>
          </p:cNvPicPr>
          <p:nvPr/>
        </p:nvPicPr>
        <p:blipFill>
          <a:blip r:embed="rId4"/>
          <a:srcRect l="26458" t="24970" r="8411" b="25333"/>
          <a:stretch/>
        </p:blipFill>
        <p:spPr>
          <a:xfrm>
            <a:off x="2676698" y="2294311"/>
            <a:ext cx="7747462" cy="3941015"/>
          </a:xfrm>
          <a:prstGeom prst="rect">
            <a:avLst/>
          </a:prstGeom>
        </p:spPr>
      </p:pic>
    </p:spTree>
    <p:extLst>
      <p:ext uri="{BB962C8B-B14F-4D97-AF65-F5344CB8AC3E}">
        <p14:creationId xmlns:p14="http://schemas.microsoft.com/office/powerpoint/2010/main" val="3457634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643FE-36D9-B4FD-3175-231A42B89E0A}"/>
              </a:ext>
            </a:extLst>
          </p:cNvPr>
          <p:cNvSpPr>
            <a:spLocks noGrp="1"/>
          </p:cNvSpPr>
          <p:nvPr>
            <p:ph type="title"/>
          </p:nvPr>
        </p:nvSpPr>
        <p:spPr/>
        <p:txBody>
          <a:bodyPr/>
          <a:lstStyle/>
          <a:p>
            <a:r>
              <a:rPr lang="en-US" dirty="0"/>
              <a:t>Stepped Wedge Trial</a:t>
            </a:r>
          </a:p>
        </p:txBody>
      </p:sp>
      <p:pic>
        <p:nvPicPr>
          <p:cNvPr id="4" name="Picture 3">
            <a:extLst>
              <a:ext uri="{FF2B5EF4-FFF2-40B4-BE49-F238E27FC236}">
                <a16:creationId xmlns:a16="http://schemas.microsoft.com/office/drawing/2014/main" id="{CB2135E6-D2A6-E4AB-8FAC-F5CBB36B1392}"/>
              </a:ext>
            </a:extLst>
          </p:cNvPr>
          <p:cNvPicPr>
            <a:picLocks noChangeAspect="1"/>
          </p:cNvPicPr>
          <p:nvPr/>
        </p:nvPicPr>
        <p:blipFill>
          <a:blip r:embed="rId3"/>
          <a:srcRect l="35510" t="33342" r="18592" b="26545"/>
          <a:stretch/>
        </p:blipFill>
        <p:spPr>
          <a:xfrm>
            <a:off x="1511348" y="1664481"/>
            <a:ext cx="8866752" cy="4391561"/>
          </a:xfrm>
          <a:prstGeom prst="rect">
            <a:avLst/>
          </a:prstGeom>
        </p:spPr>
      </p:pic>
    </p:spTree>
    <p:extLst>
      <p:ext uri="{BB962C8B-B14F-4D97-AF65-F5344CB8AC3E}">
        <p14:creationId xmlns:p14="http://schemas.microsoft.com/office/powerpoint/2010/main" val="3413284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B3F70-CFA8-1BE6-4D48-3A81CBB46C35}"/>
              </a:ext>
            </a:extLst>
          </p:cNvPr>
          <p:cNvSpPr>
            <a:spLocks noGrp="1"/>
          </p:cNvSpPr>
          <p:nvPr>
            <p:ph type="title"/>
          </p:nvPr>
        </p:nvSpPr>
        <p:spPr>
          <a:xfrm>
            <a:off x="366337" y="0"/>
            <a:ext cx="10515600" cy="1266219"/>
          </a:xfrm>
        </p:spPr>
        <p:txBody>
          <a:bodyPr/>
          <a:lstStyle/>
          <a:p>
            <a:r>
              <a:rPr lang="en-US" dirty="0"/>
              <a:t>Stepped-Wedge Trials</a:t>
            </a:r>
          </a:p>
        </p:txBody>
      </p:sp>
      <p:sp>
        <p:nvSpPr>
          <p:cNvPr id="3" name="Text Placeholder 2">
            <a:extLst>
              <a:ext uri="{FF2B5EF4-FFF2-40B4-BE49-F238E27FC236}">
                <a16:creationId xmlns:a16="http://schemas.microsoft.com/office/drawing/2014/main" id="{8DBA80A9-72C4-52DF-94CE-F3281E61D29B}"/>
              </a:ext>
            </a:extLst>
          </p:cNvPr>
          <p:cNvSpPr>
            <a:spLocks noGrp="1"/>
          </p:cNvSpPr>
          <p:nvPr>
            <p:ph type="body" idx="1"/>
          </p:nvPr>
        </p:nvSpPr>
        <p:spPr>
          <a:xfrm>
            <a:off x="560301" y="1546167"/>
            <a:ext cx="5535699" cy="5164888"/>
          </a:xfrm>
        </p:spPr>
        <p:txBody>
          <a:bodyPr>
            <a:normAutofit lnSpcReduction="10000"/>
          </a:bodyPr>
          <a:lstStyle/>
          <a:p>
            <a:pPr marL="342900" indent="-342900">
              <a:buFont typeface="Wingdings" panose="05000000000000000000" pitchFamily="2" charset="2"/>
              <a:buChar char="Ø"/>
            </a:pPr>
            <a:r>
              <a:rPr lang="en-US" dirty="0"/>
              <a:t>Efficient</a:t>
            </a:r>
          </a:p>
          <a:p>
            <a:pPr marL="342900" indent="-342900">
              <a:buFont typeface="Wingdings" panose="05000000000000000000" pitchFamily="2" charset="2"/>
              <a:buChar char="Ø"/>
            </a:pPr>
            <a:r>
              <a:rPr lang="en-US" dirty="0"/>
              <a:t>Groups act as their own control so fewer needed</a:t>
            </a:r>
          </a:p>
          <a:p>
            <a:pPr marL="342900" indent="-342900">
              <a:buFont typeface="Wingdings" panose="05000000000000000000" pitchFamily="2" charset="2"/>
              <a:buChar char="Ø"/>
            </a:pPr>
            <a:r>
              <a:rPr lang="en-US" dirty="0"/>
              <a:t>Logistical or financial benefits</a:t>
            </a:r>
          </a:p>
          <a:p>
            <a:pPr marL="342900" indent="-342900">
              <a:buFont typeface="Wingdings" panose="05000000000000000000" pitchFamily="2" charset="2"/>
              <a:buChar char="Ø"/>
            </a:pPr>
            <a:r>
              <a:rPr lang="en-US" dirty="0"/>
              <a:t>Cannot introduce intervention in all groups at once</a:t>
            </a:r>
          </a:p>
          <a:p>
            <a:pPr marL="342900" indent="-342900">
              <a:buFont typeface="Wingdings" panose="05000000000000000000" pitchFamily="2" charset="2"/>
              <a:buChar char="Ø"/>
            </a:pPr>
            <a:r>
              <a:rPr lang="en-US" dirty="0"/>
              <a:t>Can study the effect of time on intervention effectiveness (i.e., seasonality, time since introduction)</a:t>
            </a:r>
          </a:p>
          <a:p>
            <a:pPr marL="342900" indent="-342900">
              <a:buFont typeface="Wingdings" panose="05000000000000000000" pitchFamily="2" charset="2"/>
              <a:buChar char="Ø"/>
            </a:pPr>
            <a:r>
              <a:rPr lang="en-US" dirty="0"/>
              <a:t>Can examine heterogeneity of effects of intervention</a:t>
            </a:r>
          </a:p>
          <a:p>
            <a:pPr marL="800100" lvl="1" indent="-342900">
              <a:buFont typeface="Wingdings" panose="05000000000000000000" pitchFamily="2" charset="2"/>
              <a:buChar char="Ø"/>
            </a:pPr>
            <a:r>
              <a:rPr lang="en-US" dirty="0"/>
              <a:t>Over time</a:t>
            </a:r>
          </a:p>
          <a:p>
            <a:pPr marL="800100" lvl="1" indent="-342900">
              <a:buFont typeface="Wingdings" panose="05000000000000000000" pitchFamily="2" charset="2"/>
              <a:buChar char="Ø"/>
            </a:pPr>
            <a:r>
              <a:rPr lang="en-US" dirty="0"/>
              <a:t>Across strata/waves</a:t>
            </a:r>
          </a:p>
          <a:p>
            <a:pPr marL="800100" lvl="1" indent="-342900">
              <a:buFont typeface="Wingdings" panose="05000000000000000000" pitchFamily="2" charset="2"/>
              <a:buChar char="Ø"/>
            </a:pPr>
            <a:r>
              <a:rPr lang="en-US" dirty="0"/>
              <a:t>Across clusters</a:t>
            </a:r>
          </a:p>
        </p:txBody>
      </p:sp>
      <p:sp>
        <p:nvSpPr>
          <p:cNvPr id="4" name="Text Placeholder 2">
            <a:extLst>
              <a:ext uri="{FF2B5EF4-FFF2-40B4-BE49-F238E27FC236}">
                <a16:creationId xmlns:a16="http://schemas.microsoft.com/office/drawing/2014/main" id="{0D1C30FB-1067-DA55-BD5A-05FB19D33EAE}"/>
              </a:ext>
            </a:extLst>
          </p:cNvPr>
          <p:cNvSpPr txBox="1">
            <a:spLocks/>
          </p:cNvSpPr>
          <p:nvPr/>
        </p:nvSpPr>
        <p:spPr>
          <a:xfrm>
            <a:off x="6289964" y="1546167"/>
            <a:ext cx="5535699" cy="516488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marL="342900" indent="-342900">
              <a:buFont typeface="Wingdings" panose="05000000000000000000" pitchFamily="2" charset="2"/>
              <a:buChar char="Ø"/>
            </a:pPr>
            <a:r>
              <a:rPr lang="en-US" dirty="0"/>
              <a:t>Often takes longer to implement</a:t>
            </a:r>
          </a:p>
          <a:p>
            <a:pPr marL="342900" indent="-342900">
              <a:buFont typeface="Wingdings" panose="05000000000000000000" pitchFamily="2" charset="2"/>
              <a:buChar char="Ø"/>
            </a:pPr>
            <a:r>
              <a:rPr lang="en-US" dirty="0"/>
              <a:t>More measurement required (can be difficult/costly/timely)</a:t>
            </a:r>
          </a:p>
          <a:p>
            <a:pPr marL="342900" indent="-342900">
              <a:buFont typeface="Wingdings" panose="05000000000000000000" pitchFamily="2" charset="2"/>
              <a:buChar char="Ø"/>
            </a:pPr>
            <a:r>
              <a:rPr lang="en-US" dirty="0"/>
              <a:t>Site differences and implementation processes can vary over time</a:t>
            </a:r>
          </a:p>
          <a:p>
            <a:pPr marL="342900" indent="-342900">
              <a:buFont typeface="Wingdings" panose="05000000000000000000" pitchFamily="2" charset="2"/>
              <a:buChar char="Ø"/>
            </a:pPr>
            <a:r>
              <a:rPr lang="en-US" dirty="0"/>
              <a:t>Risk of contamination in later sites or intervention fatigue</a:t>
            </a:r>
          </a:p>
          <a:p>
            <a:pPr marL="342900" indent="-342900">
              <a:buFont typeface="Wingdings" panose="05000000000000000000" pitchFamily="2" charset="2"/>
              <a:buChar char="Ø"/>
            </a:pPr>
            <a:r>
              <a:rPr lang="en-US" dirty="0"/>
              <a:t>Sites may not be willing/able to implement when assigned (jeopardizing internal validity)</a:t>
            </a:r>
          </a:p>
        </p:txBody>
      </p:sp>
    </p:spTree>
    <p:extLst>
      <p:ext uri="{BB962C8B-B14F-4D97-AF65-F5344CB8AC3E}">
        <p14:creationId xmlns:p14="http://schemas.microsoft.com/office/powerpoint/2010/main" val="3269381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9D3D2-CAEE-D07F-0E4F-D7D79C10DAB4}"/>
              </a:ext>
            </a:extLst>
          </p:cNvPr>
          <p:cNvSpPr>
            <a:spLocks noGrp="1"/>
          </p:cNvSpPr>
          <p:nvPr>
            <p:ph type="title"/>
          </p:nvPr>
        </p:nvSpPr>
        <p:spPr>
          <a:solidFill>
            <a:srgbClr val="FFC000"/>
          </a:solidFill>
        </p:spPr>
        <p:txBody>
          <a:bodyPr anchor="ctr" anchorCtr="0">
            <a:normAutofit/>
          </a:bodyPr>
          <a:lstStyle/>
          <a:p>
            <a:pPr algn="ctr"/>
            <a:r>
              <a:rPr lang="en-US" b="1" dirty="0">
                <a:latin typeface="+mn-lt"/>
              </a:rPr>
              <a:t>MOST</a:t>
            </a:r>
            <a:br>
              <a:rPr lang="en-US" b="1" dirty="0">
                <a:latin typeface="+mn-lt"/>
              </a:rPr>
            </a:br>
            <a:r>
              <a:rPr lang="en-US" dirty="0"/>
              <a:t>The multiphase optimization strategy</a:t>
            </a:r>
            <a:endParaRPr lang="en-US" dirty="0">
              <a:latin typeface="+mn-lt"/>
            </a:endParaRPr>
          </a:p>
        </p:txBody>
      </p:sp>
    </p:spTree>
    <p:extLst>
      <p:ext uri="{BB962C8B-B14F-4D97-AF65-F5344CB8AC3E}">
        <p14:creationId xmlns:p14="http://schemas.microsoft.com/office/powerpoint/2010/main" val="2139672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EDED06-989E-0E0D-753C-9D9C4C549DFC}"/>
              </a:ext>
            </a:extLst>
          </p:cNvPr>
          <p:cNvPicPr>
            <a:picLocks noChangeAspect="1"/>
          </p:cNvPicPr>
          <p:nvPr/>
        </p:nvPicPr>
        <p:blipFill>
          <a:blip r:embed="rId3"/>
          <a:stretch>
            <a:fillRect/>
          </a:stretch>
        </p:blipFill>
        <p:spPr>
          <a:xfrm>
            <a:off x="0" y="163960"/>
            <a:ext cx="12192000" cy="6530080"/>
          </a:xfrm>
          <a:prstGeom prst="rect">
            <a:avLst/>
          </a:prstGeom>
        </p:spPr>
      </p:pic>
    </p:spTree>
    <p:extLst>
      <p:ext uri="{BB962C8B-B14F-4D97-AF65-F5344CB8AC3E}">
        <p14:creationId xmlns:p14="http://schemas.microsoft.com/office/powerpoint/2010/main" val="525922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5EDEB4-61B1-95D3-E7FA-873D37B3FF7C}"/>
              </a:ext>
            </a:extLst>
          </p:cNvPr>
          <p:cNvPicPr>
            <a:picLocks noChangeAspect="1"/>
          </p:cNvPicPr>
          <p:nvPr/>
        </p:nvPicPr>
        <p:blipFill>
          <a:blip r:embed="rId3"/>
          <a:stretch>
            <a:fillRect/>
          </a:stretch>
        </p:blipFill>
        <p:spPr>
          <a:xfrm>
            <a:off x="0" y="289982"/>
            <a:ext cx="12192000" cy="6278036"/>
          </a:xfrm>
          <a:prstGeom prst="rect">
            <a:avLst/>
          </a:prstGeom>
        </p:spPr>
      </p:pic>
    </p:spTree>
    <p:extLst>
      <p:ext uri="{BB962C8B-B14F-4D97-AF65-F5344CB8AC3E}">
        <p14:creationId xmlns:p14="http://schemas.microsoft.com/office/powerpoint/2010/main" val="2939928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F7341-247F-0445-995B-533565ED30F6}"/>
              </a:ext>
            </a:extLst>
          </p:cNvPr>
          <p:cNvSpPr>
            <a:spLocks noGrp="1"/>
          </p:cNvSpPr>
          <p:nvPr>
            <p:ph type="title"/>
          </p:nvPr>
        </p:nvSpPr>
        <p:spPr>
          <a:xfrm>
            <a:off x="253583" y="1400513"/>
            <a:ext cx="2639518" cy="4056973"/>
          </a:xfrm>
        </p:spPr>
        <p:txBody>
          <a:bodyPr>
            <a:normAutofit/>
          </a:bodyPr>
          <a:lstStyle/>
          <a:p>
            <a:r>
              <a:rPr lang="en-US" sz="4000" b="1" dirty="0">
                <a:latin typeface="+mn-lt"/>
              </a:rPr>
              <a:t>Factorial experiment/Fractional factorial experiment design</a:t>
            </a:r>
          </a:p>
        </p:txBody>
      </p:sp>
      <p:pic>
        <p:nvPicPr>
          <p:cNvPr id="9" name="Picture 8">
            <a:extLst>
              <a:ext uri="{FF2B5EF4-FFF2-40B4-BE49-F238E27FC236}">
                <a16:creationId xmlns:a16="http://schemas.microsoft.com/office/drawing/2014/main" id="{0102CBB5-6BF5-AF68-2B8D-7A6F559BEE4E}"/>
              </a:ext>
            </a:extLst>
          </p:cNvPr>
          <p:cNvPicPr>
            <a:picLocks noChangeAspect="1"/>
          </p:cNvPicPr>
          <p:nvPr/>
        </p:nvPicPr>
        <p:blipFill>
          <a:blip r:embed="rId3"/>
          <a:stretch>
            <a:fillRect/>
          </a:stretch>
        </p:blipFill>
        <p:spPr>
          <a:xfrm>
            <a:off x="3043003" y="29279"/>
            <a:ext cx="9148997" cy="6829425"/>
          </a:xfrm>
          <a:prstGeom prst="rect">
            <a:avLst/>
          </a:prstGeom>
        </p:spPr>
      </p:pic>
    </p:spTree>
    <p:extLst>
      <p:ext uri="{BB962C8B-B14F-4D97-AF65-F5344CB8AC3E}">
        <p14:creationId xmlns:p14="http://schemas.microsoft.com/office/powerpoint/2010/main" val="1718684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CA53C-2805-91CD-3F9B-AF06F45F91D2}"/>
              </a:ext>
            </a:extLst>
          </p:cNvPr>
          <p:cNvSpPr>
            <a:spLocks noGrp="1"/>
          </p:cNvSpPr>
          <p:nvPr>
            <p:ph type="title"/>
          </p:nvPr>
        </p:nvSpPr>
        <p:spPr/>
        <p:txBody>
          <a:bodyPr vert="horz" lIns="91440" tIns="45720" rIns="91440" bIns="45720" rtlCol="0" anchor="t" anchorCtr="0">
            <a:normAutofit/>
          </a:bodyPr>
          <a:lstStyle/>
          <a:p>
            <a:r>
              <a:rPr lang="en-US" sz="4000" b="1" dirty="0">
                <a:latin typeface="+mn-lt"/>
              </a:rPr>
              <a:t>SMART design</a:t>
            </a:r>
          </a:p>
        </p:txBody>
      </p:sp>
      <p:pic>
        <p:nvPicPr>
          <p:cNvPr id="4" name="Picture 3">
            <a:extLst>
              <a:ext uri="{FF2B5EF4-FFF2-40B4-BE49-F238E27FC236}">
                <a16:creationId xmlns:a16="http://schemas.microsoft.com/office/drawing/2014/main" id="{002D68D2-16B6-623F-65A6-AAC0F65813AA}"/>
              </a:ext>
            </a:extLst>
          </p:cNvPr>
          <p:cNvPicPr>
            <a:picLocks noChangeAspect="1"/>
          </p:cNvPicPr>
          <p:nvPr/>
        </p:nvPicPr>
        <p:blipFill>
          <a:blip r:embed="rId3"/>
          <a:stretch>
            <a:fillRect/>
          </a:stretch>
        </p:blipFill>
        <p:spPr>
          <a:xfrm>
            <a:off x="447675" y="1201271"/>
            <a:ext cx="11296650" cy="5499566"/>
          </a:xfrm>
          <a:prstGeom prst="rect">
            <a:avLst/>
          </a:prstGeom>
        </p:spPr>
      </p:pic>
    </p:spTree>
    <p:extLst>
      <p:ext uri="{BB962C8B-B14F-4D97-AF65-F5344CB8AC3E}">
        <p14:creationId xmlns:p14="http://schemas.microsoft.com/office/powerpoint/2010/main" val="31954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9D3D2-CAEE-D07F-0E4F-D7D79C10DAB4}"/>
              </a:ext>
            </a:extLst>
          </p:cNvPr>
          <p:cNvSpPr>
            <a:spLocks noGrp="1"/>
          </p:cNvSpPr>
          <p:nvPr>
            <p:ph type="title"/>
          </p:nvPr>
        </p:nvSpPr>
        <p:spPr>
          <a:solidFill>
            <a:srgbClr val="FFC000"/>
          </a:solidFill>
        </p:spPr>
        <p:txBody>
          <a:bodyPr anchor="ctr" anchorCtr="0">
            <a:normAutofit/>
          </a:bodyPr>
          <a:lstStyle/>
          <a:p>
            <a:pPr algn="ctr"/>
            <a:r>
              <a:rPr lang="en-US" b="1" dirty="0">
                <a:latin typeface="+mn-lt"/>
              </a:rPr>
              <a:t>Choice / Preference Designs</a:t>
            </a:r>
            <a:endParaRPr lang="en-US" dirty="0">
              <a:latin typeface="+mn-lt"/>
            </a:endParaRPr>
          </a:p>
        </p:txBody>
      </p:sp>
    </p:spTree>
    <p:extLst>
      <p:ext uri="{BB962C8B-B14F-4D97-AF65-F5344CB8AC3E}">
        <p14:creationId xmlns:p14="http://schemas.microsoft.com/office/powerpoint/2010/main" val="1045809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14091-65D6-B5D4-6102-4E2FCB6B1251}"/>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5DC77BE8-446C-C086-8ABA-56C1B6D0EF0E}"/>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CBCEBE5C-FA91-4ADF-DDF7-F6F2AA6473D9}"/>
              </a:ext>
            </a:extLst>
          </p:cNvPr>
          <p:cNvPicPr>
            <a:picLocks noChangeAspect="1"/>
          </p:cNvPicPr>
          <p:nvPr/>
        </p:nvPicPr>
        <p:blipFill>
          <a:blip r:embed="rId3"/>
          <a:srcRect l="22417" t="22788" r="4209" b="18546"/>
          <a:stretch/>
        </p:blipFill>
        <p:spPr>
          <a:xfrm>
            <a:off x="561686" y="339295"/>
            <a:ext cx="11055927" cy="5893248"/>
          </a:xfrm>
          <a:prstGeom prst="rect">
            <a:avLst/>
          </a:prstGeom>
        </p:spPr>
      </p:pic>
      <p:pic>
        <p:nvPicPr>
          <p:cNvPr id="6" name="Picture 5">
            <a:extLst>
              <a:ext uri="{FF2B5EF4-FFF2-40B4-BE49-F238E27FC236}">
                <a16:creationId xmlns:a16="http://schemas.microsoft.com/office/drawing/2014/main" id="{DF937D0F-15D3-7A76-95D5-E5202AACDA89}"/>
              </a:ext>
            </a:extLst>
          </p:cNvPr>
          <p:cNvPicPr>
            <a:picLocks noChangeAspect="1"/>
          </p:cNvPicPr>
          <p:nvPr/>
        </p:nvPicPr>
        <p:blipFill>
          <a:blip r:embed="rId4"/>
          <a:srcRect l="24035" t="32075" r="39626" b="24612"/>
          <a:stretch/>
        </p:blipFill>
        <p:spPr>
          <a:xfrm>
            <a:off x="5687246" y="1167937"/>
            <a:ext cx="5672904" cy="4915371"/>
          </a:xfrm>
          <a:prstGeom prst="rect">
            <a:avLst/>
          </a:prstGeom>
        </p:spPr>
      </p:pic>
    </p:spTree>
    <p:extLst>
      <p:ext uri="{BB962C8B-B14F-4D97-AF65-F5344CB8AC3E}">
        <p14:creationId xmlns:p14="http://schemas.microsoft.com/office/powerpoint/2010/main" val="3487840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4756C5-4C4C-8BCB-B4AA-E0D816F2E46A}"/>
              </a:ext>
            </a:extLst>
          </p:cNvPr>
          <p:cNvPicPr>
            <a:picLocks noChangeAspect="1"/>
          </p:cNvPicPr>
          <p:nvPr/>
        </p:nvPicPr>
        <p:blipFill>
          <a:blip r:embed="rId3"/>
          <a:srcRect l="50000" t="22303" r="4370" b="18061"/>
          <a:stretch/>
        </p:blipFill>
        <p:spPr>
          <a:xfrm>
            <a:off x="2410049" y="217392"/>
            <a:ext cx="7371901" cy="6423215"/>
          </a:xfrm>
          <a:prstGeom prst="rect">
            <a:avLst/>
          </a:prstGeom>
        </p:spPr>
      </p:pic>
    </p:spTree>
    <p:extLst>
      <p:ext uri="{BB962C8B-B14F-4D97-AF65-F5344CB8AC3E}">
        <p14:creationId xmlns:p14="http://schemas.microsoft.com/office/powerpoint/2010/main" val="427918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8FA570-3616-A594-954C-5CCCF159B4EA}"/>
              </a:ext>
            </a:extLst>
          </p:cNvPr>
          <p:cNvPicPr>
            <a:picLocks noChangeAspect="1"/>
          </p:cNvPicPr>
          <p:nvPr/>
        </p:nvPicPr>
        <p:blipFill>
          <a:blip r:embed="rId3"/>
          <a:srcRect l="24195" t="22788" r="4208" b="18545"/>
          <a:stretch/>
        </p:blipFill>
        <p:spPr>
          <a:xfrm>
            <a:off x="842356" y="559063"/>
            <a:ext cx="10507287" cy="5739873"/>
          </a:xfrm>
          <a:prstGeom prst="rect">
            <a:avLst/>
          </a:prstGeom>
        </p:spPr>
      </p:pic>
    </p:spTree>
    <p:extLst>
      <p:ext uri="{BB962C8B-B14F-4D97-AF65-F5344CB8AC3E}">
        <p14:creationId xmlns:p14="http://schemas.microsoft.com/office/powerpoint/2010/main" val="923301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9D3D2-CAEE-D07F-0E4F-D7D79C10DAB4}"/>
              </a:ext>
            </a:extLst>
          </p:cNvPr>
          <p:cNvSpPr>
            <a:spLocks noGrp="1"/>
          </p:cNvSpPr>
          <p:nvPr>
            <p:ph type="title"/>
          </p:nvPr>
        </p:nvSpPr>
        <p:spPr>
          <a:solidFill>
            <a:srgbClr val="FFC000"/>
          </a:solidFill>
        </p:spPr>
        <p:txBody>
          <a:bodyPr anchor="ctr" anchorCtr="0"/>
          <a:lstStyle/>
          <a:p>
            <a:pPr algn="ctr"/>
            <a:r>
              <a:rPr lang="en-US" b="1" dirty="0">
                <a:latin typeface="+mn-lt"/>
              </a:rPr>
              <a:t>Hybrid</a:t>
            </a:r>
            <a:endParaRPr lang="en-US" dirty="0">
              <a:latin typeface="+mn-lt"/>
            </a:endParaRPr>
          </a:p>
        </p:txBody>
      </p:sp>
    </p:spTree>
    <p:extLst>
      <p:ext uri="{BB962C8B-B14F-4D97-AF65-F5344CB8AC3E}">
        <p14:creationId xmlns:p14="http://schemas.microsoft.com/office/powerpoint/2010/main" val="2932624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DC93C0-1FAA-90DB-782C-16182DBB4040}"/>
              </a:ext>
            </a:extLst>
          </p:cNvPr>
          <p:cNvPicPr>
            <a:picLocks noChangeAspect="1"/>
          </p:cNvPicPr>
          <p:nvPr/>
        </p:nvPicPr>
        <p:blipFill>
          <a:blip r:embed="rId3"/>
          <a:stretch>
            <a:fillRect/>
          </a:stretch>
        </p:blipFill>
        <p:spPr>
          <a:xfrm>
            <a:off x="0" y="3698697"/>
            <a:ext cx="12192000" cy="3127083"/>
          </a:xfrm>
          <a:prstGeom prst="rect">
            <a:avLst/>
          </a:prstGeom>
        </p:spPr>
      </p:pic>
      <p:pic>
        <p:nvPicPr>
          <p:cNvPr id="7" name="Picture 6">
            <a:extLst>
              <a:ext uri="{FF2B5EF4-FFF2-40B4-BE49-F238E27FC236}">
                <a16:creationId xmlns:a16="http://schemas.microsoft.com/office/drawing/2014/main" id="{871AB3E7-59DD-991A-24DC-E5CC504012B5}"/>
              </a:ext>
            </a:extLst>
          </p:cNvPr>
          <p:cNvPicPr>
            <a:picLocks noChangeAspect="1"/>
          </p:cNvPicPr>
          <p:nvPr/>
        </p:nvPicPr>
        <p:blipFill>
          <a:blip r:embed="rId4"/>
          <a:stretch>
            <a:fillRect/>
          </a:stretch>
        </p:blipFill>
        <p:spPr>
          <a:xfrm>
            <a:off x="0" y="-72877"/>
            <a:ext cx="12192000" cy="3501878"/>
          </a:xfrm>
          <a:prstGeom prst="rect">
            <a:avLst/>
          </a:prstGeom>
        </p:spPr>
      </p:pic>
    </p:spTree>
    <p:extLst>
      <p:ext uri="{BB962C8B-B14F-4D97-AF65-F5344CB8AC3E}">
        <p14:creationId xmlns:p14="http://schemas.microsoft.com/office/powerpoint/2010/main" val="297695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7B8DA9-2208-E343-453F-E133E322C928}"/>
              </a:ext>
            </a:extLst>
          </p:cNvPr>
          <p:cNvPicPr>
            <a:picLocks noChangeAspect="1"/>
          </p:cNvPicPr>
          <p:nvPr/>
        </p:nvPicPr>
        <p:blipFill>
          <a:blip r:embed="rId3"/>
          <a:stretch>
            <a:fillRect/>
          </a:stretch>
        </p:blipFill>
        <p:spPr>
          <a:xfrm>
            <a:off x="0" y="342070"/>
            <a:ext cx="12192000" cy="6173860"/>
          </a:xfrm>
          <a:prstGeom prst="rect">
            <a:avLst/>
          </a:prstGeom>
        </p:spPr>
      </p:pic>
    </p:spTree>
    <p:extLst>
      <p:ext uri="{BB962C8B-B14F-4D97-AF65-F5344CB8AC3E}">
        <p14:creationId xmlns:p14="http://schemas.microsoft.com/office/powerpoint/2010/main" val="16955707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2387</TotalTime>
  <Words>2696</Words>
  <Application>Microsoft Office PowerPoint</Application>
  <PresentationFormat>Widescreen</PresentationFormat>
  <Paragraphs>259</Paragraphs>
  <Slides>24</Slides>
  <Notes>24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24</vt:i4>
      </vt:variant>
    </vt:vector>
  </HeadingPairs>
  <TitlesOfParts>
    <vt:vector size="39" baseType="lpstr">
      <vt:lpstr>Aptos</vt:lpstr>
      <vt:lpstr>Aptos Display</vt:lpstr>
      <vt:lpstr>Arial</vt:lpstr>
      <vt:lpstr>ArialMT</vt:lpstr>
      <vt:lpstr>Calibri</vt:lpstr>
      <vt:lpstr>CIDFont+F1</vt:lpstr>
      <vt:lpstr>CIDFont+F2</vt:lpstr>
      <vt:lpstr>CIDFont+F4</vt:lpstr>
      <vt:lpstr>Garamond</vt:lpstr>
      <vt:lpstr>Garamond-Bold</vt:lpstr>
      <vt:lpstr>Garamond-Italic</vt:lpstr>
      <vt:lpstr>SymbolMT</vt:lpstr>
      <vt:lpstr>Wingdings</vt:lpstr>
      <vt:lpstr>Wingdings-Regular</vt:lpstr>
      <vt:lpstr>Office Theme</vt:lpstr>
      <vt:lpstr>Intervention Designs in Real World Settings</vt:lpstr>
      <vt:lpstr>Introduction</vt:lpstr>
      <vt:lpstr>Why a course on real-world intervention designs?</vt:lpstr>
      <vt:lpstr>Pre-post studies  Interrupted time series</vt:lpstr>
      <vt:lpstr>PowerPoint Presentation</vt:lpstr>
      <vt:lpstr>PowerPoint Presentation</vt:lpstr>
      <vt:lpstr>PowerPoint Presentation</vt:lpstr>
      <vt:lpstr>PowerPoint Presentation</vt:lpstr>
      <vt:lpstr>Cluster Trials &amp; Stepped-Wedge Designs</vt:lpstr>
      <vt:lpstr>PowerPoint Presentation</vt:lpstr>
      <vt:lpstr>Stepped Wedge Trial</vt:lpstr>
      <vt:lpstr>Stepped-Wedge Trials</vt:lpstr>
      <vt:lpstr>MOST The multiphase optimization strategy</vt:lpstr>
      <vt:lpstr>PowerPoint Presentation</vt:lpstr>
      <vt:lpstr>PowerPoint Presentation</vt:lpstr>
      <vt:lpstr>Factorial experiment/Fractional factorial experiment design</vt:lpstr>
      <vt:lpstr>SMART design</vt:lpstr>
      <vt:lpstr>Choice / Preference Designs</vt:lpstr>
      <vt:lpstr>PowerPoint Presentation</vt:lpstr>
      <vt:lpstr>PowerPoint Presentation</vt:lpstr>
      <vt:lpstr>PowerPoint Presentation</vt:lpstr>
      <vt:lpstr>Hybrid</vt:lpstr>
      <vt:lpstr>PowerPoint Presentation</vt:lpstr>
      <vt:lpstr>PowerPoint Presentation</vt:lpstr>
    </vt:vector>
  </TitlesOfParts>
  <Company>Baylor College of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Duong, Hao T</dc:creator>
  <cp:lastModifiedBy>Duong Thi Hao</cp:lastModifiedBy>
  <cp:revision>15</cp:revision>
  <cp:lastPrinted>2024-10-03T03:58:49Z</cp:lastPrinted>
  <dcterms:created xsi:type="dcterms:W3CDTF">2024-08-25T18:23:35Z</dcterms:created>
  <dcterms:modified xsi:type="dcterms:W3CDTF">2024-10-03T15:47:02Z</dcterms:modified>
</cp:coreProperties>
</file>